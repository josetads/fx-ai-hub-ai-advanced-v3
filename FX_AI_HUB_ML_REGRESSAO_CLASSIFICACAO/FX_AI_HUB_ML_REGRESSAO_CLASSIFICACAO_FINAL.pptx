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955279" y="640080"/>
            <a:ext cx="2926080" cy="2926080"/>
          </a:xfrm>
          <a:prstGeom prst="ellipse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2926080"/>
            <a:ext cx="1920240" cy="1920240"/>
          </a:xfrm>
          <a:prstGeom prst="ellipse">
            <a:avLst/>
          </a:prstGeom>
          <a:solidFill>
            <a:srgbClr val="8C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5303520"/>
            <a:ext cx="1371600" cy="1371600"/>
          </a:xfrm>
          <a:prstGeom prst="ellipse">
            <a:avLst/>
          </a:prstGeom>
          <a:solidFill>
            <a:srgbClr val="00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5F8FF"/>
                </a:solidFill>
              </a:defRPr>
            </a:pPr>
            <a:r>
              <a:t>FX AI Hub — IA Cambial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423160"/>
            <a:ext cx="6949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BECDDC"/>
                </a:solidFill>
              </a:defRPr>
            </a:pPr>
            <a:r>
              <a:t>Apresentação para banca e empresa: dados, regressão, classificação, treino/teste, métricas e decisões de compra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840480"/>
            <a:ext cx="4754880" cy="502920"/>
          </a:xfrm>
          <a:prstGeom prst="roundRect">
            <a:avLst/>
          </a:prstGeom>
          <a:solidFill>
            <a:srgbClr val="0C2846"/>
          </a:solidFill>
          <a:ln>
            <a:solidFill>
              <a:srgbClr val="0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50208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6FF"/>
                </a:solidFill>
              </a:defRPr>
            </a:pPr>
            <a:r>
              <a:t>Machine Learning • Regressão • Classificação • Métricas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C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355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ECDDC"/>
                </a:solidFill>
              </a:defRPr>
            </a:pPr>
            <a:r>
              <a:t>Visão de negócio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F5F8FF"/>
                </a:solidFill>
              </a:defRPr>
            </a:pPr>
            <a:r>
              <a:t>1. O que o sistema resolve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383280" cy="2011680"/>
          </a:xfrm>
          <a:prstGeom prst="roundRect">
            <a:avLst/>
          </a:prstGeom>
          <a:solidFill>
            <a:srgbClr val="0E1C36"/>
          </a:solidFill>
          <a:ln>
            <a:solidFill>
              <a:srgbClr val="FF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453895"/>
            <a:ext cx="305409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FF5858"/>
                </a:solidFill>
              </a:defRPr>
            </a:pPr>
            <a:r>
              <a:t>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856231"/>
            <a:ext cx="3054096" cy="13533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Compras internacionais sofrem com variação cambial. A decisão manual depende de planilhas e percepção, sem medir risco ou previsão.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383280" cy="2011680"/>
          </a:xfrm>
          <a:prstGeom prst="roundRect">
            <a:avLst/>
          </a:prstGeom>
          <a:solidFill>
            <a:srgbClr val="0E1C36"/>
          </a:solidFill>
          <a:ln>
            <a:solidFill>
              <a:srgbClr val="0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453895"/>
            <a:ext cx="305409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00D6FF"/>
                </a:solidFill>
              </a:defRPr>
            </a:pPr>
            <a:r>
              <a:t>Solução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856231"/>
            <a:ext cx="3054096" cy="13533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Coletar cotações, transformar em dataset, aplicar ML e gerar uma recomendação: comprar, aguardar ou monitorar.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25880"/>
            <a:ext cx="3383280" cy="2011680"/>
          </a:xfrm>
          <a:prstGeom prst="roundRect">
            <a:avLst/>
          </a:prstGeom>
          <a:solidFill>
            <a:srgbClr val="0E1C36"/>
          </a:solidFill>
          <a:ln>
            <a:solidFill>
              <a:srgbClr val="00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453895"/>
            <a:ext cx="305409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00DCA0"/>
                </a:solidFill>
              </a:defRPr>
            </a:pPr>
            <a:r>
              <a:t>Resultado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856231"/>
            <a:ext cx="3054096" cy="13533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Relatório executivo com histórico, outliers, métricas, previsões e decisão apoiada por dados.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31920"/>
            <a:ext cx="1051560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 b="1">
                <a:solidFill>
                  <a:srgbClr val="F5F8FF"/>
                </a:solidFill>
              </a:defRPr>
            </a:pPr>
            <a:r>
              <a:t>Resumo: o projeto não é apenas um robô de cotação. Ele transforma séries históricas de moedas em uma camada de inteligência para apoiar gestão de compras.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C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355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ECDDC"/>
                </a:solidFill>
              </a:defRPr>
            </a:pPr>
            <a: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F5F8FF"/>
                </a:solidFill>
              </a:defRPr>
            </a:pPr>
            <a:r>
              <a:t>2. Dataset abordado no projeto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6309360" cy="4160520"/>
          </a:xfrm>
          <a:prstGeom prst="roundRect">
            <a:avLst/>
          </a:prstGeom>
          <a:solidFill>
            <a:srgbClr val="FAFAFA"/>
          </a:solidFill>
          <a:ln>
            <a:solidFill>
              <a:srgbClr val="2D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07592"/>
            <a:ext cx="6035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1">
                <a:solidFill>
                  <a:srgbClr val="1E1E2D"/>
                </a:solidFill>
              </a:defRPr>
            </a:pPr>
            <a:r>
              <a:t>Histórico multi-moedas</a:t>
            </a:r>
          </a:p>
        </p:txBody>
      </p:sp>
      <p:pic>
        <p:nvPicPr>
          <p:cNvPr id="8" name="Picture 7" descr="01_historico_moedas_matplotli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09928"/>
            <a:ext cx="5943600" cy="350215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234440"/>
            <a:ext cx="4343400" cy="4160520"/>
          </a:xfrm>
          <a:prstGeom prst="roundRect">
            <a:avLst/>
          </a:prstGeom>
          <a:solidFill>
            <a:srgbClr val="0E1C36"/>
          </a:solidFill>
          <a:ln>
            <a:solidFill>
              <a:srgbClr val="0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42631" y="1362456"/>
            <a:ext cx="401421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00D6FF"/>
                </a:solidFill>
              </a:defRPr>
            </a:pPr>
            <a:r>
              <a:t>Arquivos CSV gerados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42631" y="1764792"/>
            <a:ext cx="4014215" cy="3502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01_historico_cotacoes.csv</a:t>
            </a:r>
            <a:br/>
            <a:r>
              <a:t>02_features_usd_brl_ml.csv</a:t>
            </a:r>
            <a:br/>
            <a:r>
              <a:t>03_divisao_treino_teste.csv</a:t>
            </a:r>
            <a:br/>
            <a:r>
              <a:t>04_metricas_modelos.csv</a:t>
            </a:r>
            <a:br/>
            <a:r>
              <a:t>05_previsoes_regressao_teste.csv</a:t>
            </a:r>
            <a:br/>
            <a:r>
              <a:t>06_matriz_confusao_classificacao.csv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715000"/>
            <a:ext cx="10515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0">
                <a:solidFill>
                  <a:srgbClr val="BECDDC"/>
                </a:solidFill>
              </a:defRPr>
            </a:pPr>
            <a:r>
              <a:t>Variáveis: data, par_moeda, bid, ask, high, low, retorno_pct, médias móveis, volatilidade, range_pct e classe de recomendação.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C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355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ECDDC"/>
                </a:solidFill>
              </a:defRPr>
            </a:pPr>
            <a: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F5F8FF"/>
                </a:solidFill>
              </a:defRPr>
            </a:pPr>
            <a:r>
              <a:t>3. Pipeline de dados e 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737360" cy="1325880"/>
          </a:xfrm>
          <a:prstGeom prst="roundRect">
            <a:avLst/>
          </a:prstGeom>
          <a:solidFill>
            <a:srgbClr val="0E1C36"/>
          </a:solidFill>
          <a:ln>
            <a:solidFill>
              <a:srgbClr val="0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956816"/>
            <a:ext cx="140817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00D6FF"/>
                </a:solidFill>
              </a:defRPr>
            </a:pPr>
            <a:r>
              <a:t>Coleta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359152"/>
            <a:ext cx="1408176" cy="6675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API de moedas + KPW manual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40280" y="2487168"/>
            <a:ext cx="274320" cy="0"/>
          </a:xfrm>
          <a:prstGeom prst="line">
            <a:avLst/>
          </a:prstGeom>
          <a:ln w="25400">
            <a:solidFill>
              <a:srgbClr val="F5F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23160" y="1828800"/>
            <a:ext cx="1737360" cy="1325880"/>
          </a:xfrm>
          <a:prstGeom prst="roundRect">
            <a:avLst/>
          </a:prstGeom>
          <a:solidFill>
            <a:srgbClr val="0E1C36"/>
          </a:solidFill>
          <a:ln>
            <a:solidFill>
              <a:srgbClr val="00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87752" y="1956816"/>
            <a:ext cx="140817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00DCA0"/>
                </a:solidFill>
              </a:defRPr>
            </a:pPr>
            <a:r>
              <a:t>Banco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7752" y="2359152"/>
            <a:ext cx="1408176" cy="6675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SQLite com histórico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60520" y="2487168"/>
            <a:ext cx="274320" cy="0"/>
          </a:xfrm>
          <a:prstGeom prst="line">
            <a:avLst/>
          </a:prstGeom>
          <a:ln w="25400">
            <a:solidFill>
              <a:srgbClr val="F5F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43400" y="1828800"/>
            <a:ext cx="1737360" cy="1325880"/>
          </a:xfrm>
          <a:prstGeom prst="roundRect">
            <a:avLst/>
          </a:prstGeom>
          <a:solidFill>
            <a:srgbClr val="0E1C36"/>
          </a:solidFill>
          <a:ln>
            <a:solidFill>
              <a:srgbClr val="8C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1956816"/>
            <a:ext cx="140817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8C5AFF"/>
                </a:solidFill>
              </a:defRPr>
            </a:pPr>
            <a:r>
              <a:t>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359152"/>
            <a:ext cx="1408176" cy="6675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retorno, médias, volatilidade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2487168"/>
            <a:ext cx="274320" cy="0"/>
          </a:xfrm>
          <a:prstGeom prst="line">
            <a:avLst/>
          </a:prstGeom>
          <a:ln w="25400">
            <a:solidFill>
              <a:srgbClr val="F5F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63640" y="1828800"/>
            <a:ext cx="1737360" cy="1325880"/>
          </a:xfrm>
          <a:prstGeom prst="roundRect">
            <a:avLst/>
          </a:prstGeom>
          <a:solidFill>
            <a:srgbClr val="0E1C36"/>
          </a:solidFill>
          <a:ln>
            <a:solidFill>
              <a:srgbClr val="FFB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1" y="1956816"/>
            <a:ext cx="140817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FFB241"/>
                </a:solidFill>
              </a:defRPr>
            </a:pPr>
            <a:r>
              <a:t>Treino/Teste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1" y="2359152"/>
            <a:ext cx="1408176" cy="6675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split temporal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01000" y="2487168"/>
            <a:ext cx="274320" cy="0"/>
          </a:xfrm>
          <a:prstGeom prst="line">
            <a:avLst/>
          </a:prstGeom>
          <a:ln w="25400">
            <a:solidFill>
              <a:srgbClr val="F5F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83879" y="1828800"/>
            <a:ext cx="1737360" cy="1325880"/>
          </a:xfrm>
          <a:prstGeom prst="roundRect">
            <a:avLst/>
          </a:prstGeom>
          <a:solidFill>
            <a:srgbClr val="0E1C36"/>
          </a:solidFill>
          <a:ln>
            <a:solidFill>
              <a:srgbClr val="0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1" y="1956816"/>
            <a:ext cx="140817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00D6FF"/>
                </a:solidFill>
              </a:defRPr>
            </a:pPr>
            <a:r>
              <a:t>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2359152"/>
            <a:ext cx="1408176" cy="6675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regressão + classificação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921240" y="2487168"/>
            <a:ext cx="274319" cy="0"/>
          </a:xfrm>
          <a:prstGeom prst="line">
            <a:avLst/>
          </a:prstGeom>
          <a:ln w="25400">
            <a:solidFill>
              <a:srgbClr val="F5F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104119" y="1828800"/>
            <a:ext cx="1737360" cy="1325880"/>
          </a:xfrm>
          <a:prstGeom prst="roundRect">
            <a:avLst/>
          </a:prstGeom>
          <a:solidFill>
            <a:srgbClr val="0E1C36"/>
          </a:solidFill>
          <a:ln>
            <a:solidFill>
              <a:srgbClr val="00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68711" y="1956816"/>
            <a:ext cx="140817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00DCA0"/>
                </a:solidFill>
              </a:defRPr>
            </a:pPr>
            <a:r>
              <a:t>Decisão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68711" y="2359152"/>
            <a:ext cx="1408176" cy="6675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comprar / aguardar / monitorar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114800"/>
            <a:ext cx="10515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F5F8FF"/>
                </a:solidFill>
              </a:defRPr>
            </a:pPr>
            <a:r>
              <a:t>Esse fluxo é importante porque separa claramente o que é dado bruto, o que é atributo explicativo e o que é decisão automatizada.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C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355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ECDDC"/>
                </a:solidFill>
              </a:defRPr>
            </a:pPr>
            <a:r>
              <a:t>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F5F8FF"/>
                </a:solidFill>
              </a:defRPr>
            </a:pPr>
            <a:r>
              <a:t>4. Engenharia de atributos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6400800" cy="4297680"/>
          </a:xfrm>
          <a:prstGeom prst="roundRect">
            <a:avLst/>
          </a:prstGeom>
          <a:solidFill>
            <a:srgbClr val="FAFAFA"/>
          </a:solidFill>
          <a:ln>
            <a:solidFill>
              <a:srgbClr val="2D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07592"/>
            <a:ext cx="6126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1">
                <a:solidFill>
                  <a:srgbClr val="1E1E2D"/>
                </a:solidFill>
              </a:defRPr>
            </a:pPr>
            <a:r>
              <a:t>Médias móveis e tendência</a:t>
            </a:r>
          </a:p>
        </p:txBody>
      </p:sp>
      <p:pic>
        <p:nvPicPr>
          <p:cNvPr id="8" name="Picture 7" descr="03_features_medias_move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09928"/>
            <a:ext cx="6035040" cy="363931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0" y="1234440"/>
            <a:ext cx="3931920" cy="4297680"/>
          </a:xfrm>
          <a:prstGeom prst="roundRect">
            <a:avLst/>
          </a:prstGeom>
          <a:solidFill>
            <a:srgbClr val="0E1C36"/>
          </a:solidFill>
          <a:ln>
            <a:solidFill>
              <a:srgbClr val="00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79792" y="1362456"/>
            <a:ext cx="360273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00DCA0"/>
                </a:solidFill>
              </a:defRPr>
            </a:pPr>
            <a:r>
              <a:t>Por que criar features?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9792" y="1764792"/>
            <a:ext cx="3602736" cy="36393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Modelos não aprendem apenas pela cotação isolada. Eles precisam de sinais: tendência, volatilidade, retorno e faixa diária.</a:t>
            </a:r>
            <a:br/>
            <a:br/>
            <a:r>
              <a:t>Essas variáveis ajudam o modelo a identificar risco e direção provável.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C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355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ECDDC"/>
                </a:solidFill>
              </a:defRPr>
            </a:pPr>
            <a:r>
              <a:t>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F5F8FF"/>
                </a:solidFill>
              </a:defRPr>
            </a:pPr>
            <a:r>
              <a:t>5. Outliers e qualidade dos dados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669280" cy="4297680"/>
          </a:xfrm>
          <a:prstGeom prst="roundRect">
            <a:avLst/>
          </a:prstGeom>
          <a:solidFill>
            <a:srgbClr val="FAFAFA"/>
          </a:solidFill>
          <a:ln>
            <a:solidFill>
              <a:srgbClr val="2D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07592"/>
            <a:ext cx="5394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1">
                <a:solidFill>
                  <a:srgbClr val="1E1E2D"/>
                </a:solidFill>
              </a:defRPr>
            </a:pPr>
            <a:r>
              <a:t>Boxplot de outliers</a:t>
            </a:r>
          </a:p>
        </p:txBody>
      </p:sp>
      <p:pic>
        <p:nvPicPr>
          <p:cNvPr id="8" name="Picture 7" descr="04_outliers_boxplot_matplotli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09928"/>
            <a:ext cx="5303520" cy="363931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629400" y="1234440"/>
            <a:ext cx="4663440" cy="4297680"/>
          </a:xfrm>
          <a:prstGeom prst="roundRect">
            <a:avLst/>
          </a:prstGeom>
          <a:solidFill>
            <a:srgbClr val="FAFAFA"/>
          </a:solidFill>
          <a:ln>
            <a:solidFill>
              <a:srgbClr val="2D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307592"/>
            <a:ext cx="4389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1">
                <a:solidFill>
                  <a:srgbClr val="1E1E2D"/>
                </a:solidFill>
              </a:defRPr>
            </a:pPr>
            <a:r>
              <a:t>Correlação entre moedas</a:t>
            </a:r>
          </a:p>
        </p:txBody>
      </p:sp>
      <p:pic>
        <p:nvPicPr>
          <p:cNvPr id="11" name="Picture 10" descr="05_correlacao_moedas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709928"/>
            <a:ext cx="4297679" cy="36393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5715000"/>
            <a:ext cx="10332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0">
                <a:solidFill>
                  <a:srgbClr val="BECDDC"/>
                </a:solidFill>
              </a:defRPr>
            </a:pPr>
            <a:r>
              <a:t>Outliers podem representar erro de coleta ou evento econômico. Por isso, o projeto evidencia esses pontos antes de confiar cegamente no modelo.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C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355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ECDDC"/>
                </a:solidFill>
              </a:defRPr>
            </a:pPr>
            <a:r>
              <a:t>Validação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F5F8FF"/>
                </a:solidFill>
              </a:defRPr>
            </a:pPr>
            <a:r>
              <a:t>6. Divisão treino e teste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7406640" cy="4343400"/>
          </a:xfrm>
          <a:prstGeom prst="roundRect">
            <a:avLst/>
          </a:prstGeom>
          <a:solidFill>
            <a:srgbClr val="FAFAFA"/>
          </a:solidFill>
          <a:ln>
            <a:solidFill>
              <a:srgbClr val="2D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07592"/>
            <a:ext cx="71323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1">
                <a:solidFill>
                  <a:srgbClr val="1E1E2D"/>
                </a:solidFill>
              </a:defRPr>
            </a:pPr>
            <a:r>
              <a:t>Separação temporal do dataset</a:t>
            </a:r>
          </a:p>
        </p:txBody>
      </p:sp>
      <p:pic>
        <p:nvPicPr>
          <p:cNvPr id="8" name="Picture 7" descr="02_treino_teste_tempo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09928"/>
            <a:ext cx="7040879" cy="368503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58200" y="1234440"/>
            <a:ext cx="2834640" cy="4343400"/>
          </a:xfrm>
          <a:prstGeom prst="roundRect">
            <a:avLst/>
          </a:prstGeom>
          <a:solidFill>
            <a:srgbClr val="0E1C36"/>
          </a:solidFill>
          <a:ln>
            <a:solidFill>
              <a:srgbClr val="FFB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22792" y="1362456"/>
            <a:ext cx="250545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FFB241"/>
                </a:solidFill>
              </a:defRPr>
            </a:pPr>
            <a:r>
              <a:t>Por que não embaralhar?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22792" y="1764792"/>
            <a:ext cx="2505456" cy="3685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Em séries temporais, o passado treina o modelo e o futuro testa.</a:t>
            </a:r>
            <a:br/>
            <a:br/>
            <a:r>
              <a:t>Isso evita vazamento de dados e torna a avaliação mais próxima do uso real.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C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355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ECDDC"/>
                </a:solidFill>
              </a:defRPr>
            </a:pPr>
            <a:r>
              <a:t>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F5F8FF"/>
                </a:solidFill>
              </a:defRPr>
            </a:pPr>
            <a:r>
              <a:t>7. Tarefa de Regressão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7315200" cy="4434840"/>
          </a:xfrm>
          <a:prstGeom prst="roundRect">
            <a:avLst/>
          </a:prstGeom>
          <a:solidFill>
            <a:srgbClr val="FAFAFA"/>
          </a:solidFill>
          <a:ln>
            <a:solidFill>
              <a:srgbClr val="2D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16152"/>
            <a:ext cx="7040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1">
                <a:solidFill>
                  <a:srgbClr val="1E1E2D"/>
                </a:solidFill>
              </a:defRPr>
            </a:pPr>
            <a:r>
              <a:t>Real vs previsto no teste</a:t>
            </a:r>
          </a:p>
        </p:txBody>
      </p:sp>
      <p:pic>
        <p:nvPicPr>
          <p:cNvPr id="8" name="Picture 7" descr="07_regressao_real_vs_previs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1618488"/>
            <a:ext cx="6949440" cy="37764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0" y="1143000"/>
            <a:ext cx="3154680" cy="4434840"/>
          </a:xfrm>
          <a:prstGeom prst="roundRect">
            <a:avLst/>
          </a:prstGeom>
          <a:solidFill>
            <a:srgbClr val="0E1C36"/>
          </a:solidFill>
          <a:ln>
            <a:solidFill>
              <a:srgbClr val="0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1271016"/>
            <a:ext cx="282549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00D6FF"/>
                </a:solidFill>
              </a:defRPr>
            </a:pPr>
            <a:r>
              <a:t>Objetivo da regressão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1673352"/>
            <a:ext cx="2825496" cy="3776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Prever o próximo valor da cotação USD/BRL.</a:t>
            </a:r>
            <a:br/>
            <a:br/>
            <a:r>
              <a:t>Entrada: features históricas.</a:t>
            </a:r>
            <a:br/>
            <a:r>
              <a:t>Saída: valor numérico previsto.</a:t>
            </a:r>
            <a:br/>
            <a:br/>
            <a:r>
              <a:t>Modelos: Regressão Linear, Random Forest e Gradient Boosting.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C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355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ECDDC"/>
                </a:solidFill>
              </a:defRPr>
            </a:pPr>
            <a:r>
              <a:t>Modelagem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F5F8FF"/>
                </a:solidFill>
              </a:defRPr>
            </a:pPr>
            <a:r>
              <a:t>8. Escolha dos algoritmos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337560" cy="2011680"/>
          </a:xfrm>
          <a:prstGeom prst="roundRect">
            <a:avLst/>
          </a:prstGeom>
          <a:solidFill>
            <a:srgbClr val="0E1C36"/>
          </a:solidFill>
          <a:ln>
            <a:solidFill>
              <a:srgbClr val="0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453895"/>
            <a:ext cx="300837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00D6FF"/>
                </a:solidFill>
              </a:defRPr>
            </a:pPr>
            <a:r>
              <a:t>Regressão Linear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856231"/>
            <a:ext cx="3008376" cy="13533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Baseline interpretável. Mostra se há tendência linear mínima nos dados.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337560" cy="2011680"/>
          </a:xfrm>
          <a:prstGeom prst="roundRect">
            <a:avLst/>
          </a:prstGeom>
          <a:solidFill>
            <a:srgbClr val="0E1C36"/>
          </a:solidFill>
          <a:ln>
            <a:solidFill>
              <a:srgbClr val="00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453895"/>
            <a:ext cx="300837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00DCA0"/>
                </a:solidFill>
              </a:defRPr>
            </a:pPr>
            <a:r>
              <a:t>Random Forest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856231"/>
            <a:ext cx="3008376" cy="13533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Robusto contra ruído e útil para capturar padrões não lineares.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325880"/>
            <a:ext cx="3337560" cy="2011680"/>
          </a:xfrm>
          <a:prstGeom prst="roundRect">
            <a:avLst/>
          </a:prstGeom>
          <a:solidFill>
            <a:srgbClr val="0E1C36"/>
          </a:solidFill>
          <a:ln>
            <a:solidFill>
              <a:srgbClr val="8C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1" y="1453895"/>
            <a:ext cx="300837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8C5AFF"/>
                </a:solidFill>
              </a:defRPr>
            </a:pPr>
            <a:r>
              <a:t>Gradient Boosting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1" y="1856231"/>
            <a:ext cx="3008376" cy="13533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Modelo mais forte no teste; combina árvores sequenciais para reduzir erro.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3657600"/>
            <a:ext cx="9509760" cy="2057400"/>
          </a:xfrm>
          <a:prstGeom prst="roundRect">
            <a:avLst/>
          </a:prstGeom>
          <a:solidFill>
            <a:srgbClr val="FAFAFA"/>
          </a:solidFill>
          <a:ln>
            <a:solidFill>
              <a:srgbClr val="2D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39" y="3730752"/>
            <a:ext cx="92354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1">
                <a:solidFill>
                  <a:srgbClr val="1E1E2D"/>
                </a:solidFill>
              </a:defRPr>
            </a:pPr>
            <a:r>
              <a:t>Métricas comparativas</a:t>
            </a:r>
          </a:p>
        </p:txBody>
      </p:sp>
      <p:pic>
        <p:nvPicPr>
          <p:cNvPr id="17" name="Picture 16" descr="06_metricas_algoritm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4133087"/>
            <a:ext cx="9144000" cy="13990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C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355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ECDDC"/>
                </a:solidFill>
              </a:defRPr>
            </a:pPr>
            <a:r>
              <a:t>Métricas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F5F8FF"/>
                </a:solidFill>
              </a:defRPr>
            </a:pPr>
            <a:r>
              <a:t>9. Métricas usadas: MAE, MAPE, RMSE e R²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2651760" cy="1828800"/>
          </a:xfrm>
          <a:prstGeom prst="roundRect">
            <a:avLst/>
          </a:prstGeom>
          <a:solidFill>
            <a:srgbClr val="0E1C36"/>
          </a:solidFill>
          <a:ln>
            <a:solidFill>
              <a:srgbClr val="0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362456"/>
            <a:ext cx="232257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00D6FF"/>
                </a:solidFill>
              </a:defRPr>
            </a:pPr>
            <a:r>
              <a:t>MAE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764792"/>
            <a:ext cx="2322576" cy="11704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Erro médio absoluto. Fácil de explicar: média da distância entre previsto e real.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234440"/>
            <a:ext cx="2651760" cy="1828800"/>
          </a:xfrm>
          <a:prstGeom prst="roundRect">
            <a:avLst/>
          </a:prstGeom>
          <a:solidFill>
            <a:srgbClr val="0E1C36"/>
          </a:solidFill>
          <a:ln>
            <a:solidFill>
              <a:srgbClr val="00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5032" y="1362456"/>
            <a:ext cx="232257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00DCA0"/>
                </a:solidFill>
              </a:defRPr>
            </a:pPr>
            <a:r>
              <a:t>MAPE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2" y="1764792"/>
            <a:ext cx="2322576" cy="11704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Erro percentual médio. Excelente para falar com gestão porque mostra erro em 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234440"/>
            <a:ext cx="2651760" cy="1828800"/>
          </a:xfrm>
          <a:prstGeom prst="roundRect">
            <a:avLst/>
          </a:prstGeom>
          <a:solidFill>
            <a:srgbClr val="0E1C36"/>
          </a:solidFill>
          <a:ln>
            <a:solidFill>
              <a:srgbClr val="FFB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362456"/>
            <a:ext cx="232257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FFB241"/>
                </a:solidFill>
              </a:defRPr>
            </a:pPr>
            <a:r>
              <a:t>RMSE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1764792"/>
            <a:ext cx="2322576" cy="11704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Penaliza erros maiores. Útil para detectar previsões muito distantes.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1234440"/>
            <a:ext cx="2103120" cy="1828800"/>
          </a:xfrm>
          <a:prstGeom prst="roundRect">
            <a:avLst/>
          </a:prstGeom>
          <a:solidFill>
            <a:srgbClr val="0E1C36"/>
          </a:solidFill>
          <a:ln>
            <a:solidFill>
              <a:srgbClr val="8C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45752" y="1362456"/>
            <a:ext cx="177393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8C5AFF"/>
                </a:solidFill>
              </a:defRPr>
            </a:pPr>
            <a:r>
              <a:t>R²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5752" y="1764792"/>
            <a:ext cx="1773936" cy="11704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Indica quanto da variação do alvo é explicada pelo modelo.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77240" y="3657600"/>
          <a:ext cx="1069848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377190">
                <a:tc>
                  <a:txBody>
                    <a:bodyPr/>
                    <a:lstStyle/>
                    <a:p>
                      <a:r>
                        <a:t>Modelo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R²</a:t>
                      </a: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r>
                        <a:t>Regressao 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0.71</a:t>
                      </a: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0.86</a:t>
                      </a: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C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355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ECDDC"/>
                </a:solidFill>
              </a:defRPr>
            </a:pPr>
            <a:r>
              <a:t>Regressão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F5F8FF"/>
                </a:solidFill>
              </a:defRPr>
            </a:pPr>
            <a:r>
              <a:t>10. Resíduos: conferindo se o modelo erra de forma controlada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234440"/>
            <a:ext cx="6492240" cy="4343400"/>
          </a:xfrm>
          <a:prstGeom prst="roundRect">
            <a:avLst/>
          </a:prstGeom>
          <a:solidFill>
            <a:srgbClr val="FAFAFA"/>
          </a:solidFill>
          <a:ln>
            <a:solidFill>
              <a:srgbClr val="2D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39" y="1307592"/>
            <a:ext cx="6217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1">
                <a:solidFill>
                  <a:srgbClr val="1E1E2D"/>
                </a:solidFill>
              </a:defRPr>
            </a:pPr>
            <a:r>
              <a:t>Resíduos do Gradient Boosting</a:t>
            </a:r>
          </a:p>
        </p:txBody>
      </p:sp>
      <p:pic>
        <p:nvPicPr>
          <p:cNvPr id="8" name="Picture 7" descr="08_residuos_gradient_boo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709928"/>
            <a:ext cx="6126479" cy="368503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26679" y="1234440"/>
            <a:ext cx="3520440" cy="4343400"/>
          </a:xfrm>
          <a:prstGeom prst="roundRect">
            <a:avLst/>
          </a:prstGeom>
          <a:solidFill>
            <a:srgbClr val="0E1C36"/>
          </a:solidFill>
          <a:ln>
            <a:solidFill>
              <a:srgbClr val="00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91271" y="1362456"/>
            <a:ext cx="319125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00DCA0"/>
                </a:solidFill>
              </a:defRPr>
            </a:pPr>
            <a:r>
              <a:t>Leitura do gráfico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1271" y="1764792"/>
            <a:ext cx="3191256" cy="3685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Quanto mais os pontos ficam próximos da linha zero, mais controlado é o erro.</a:t>
            </a:r>
            <a:br/>
            <a:br/>
            <a:r>
              <a:t>Esse gráfico ajuda a mostrar se o modelo está enviesado ou se erra de forma aceitável.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C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355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ECDDC"/>
                </a:solidFill>
              </a:defRPr>
            </a:pPr>
            <a:r>
              <a:t>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F5F8FF"/>
                </a:solidFill>
              </a:defRPr>
            </a:pPr>
            <a:r>
              <a:t>11. Tarefa de Classificação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4937760" cy="4663440"/>
          </a:xfrm>
          <a:prstGeom prst="roundRect">
            <a:avLst/>
          </a:prstGeom>
          <a:solidFill>
            <a:srgbClr val="FAFAFA"/>
          </a:solidFill>
          <a:ln>
            <a:solidFill>
              <a:srgbClr val="2D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170432"/>
            <a:ext cx="46634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1">
                <a:solidFill>
                  <a:srgbClr val="1E1E2D"/>
                </a:solidFill>
              </a:defRPr>
            </a:pPr>
            <a:r>
              <a:t>Matriz de confusão</a:t>
            </a:r>
          </a:p>
        </p:txBody>
      </p:sp>
      <p:pic>
        <p:nvPicPr>
          <p:cNvPr id="8" name="Picture 7" descr="09_matriz_confusao_classific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72768"/>
            <a:ext cx="4572000" cy="40050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89320" y="1097280"/>
            <a:ext cx="5212080" cy="4663440"/>
          </a:xfrm>
          <a:prstGeom prst="roundRect">
            <a:avLst/>
          </a:prstGeom>
          <a:solidFill>
            <a:srgbClr val="FAFAFA"/>
          </a:solidFill>
          <a:ln>
            <a:solidFill>
              <a:srgbClr val="2D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170432"/>
            <a:ext cx="4937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1">
                <a:solidFill>
                  <a:srgbClr val="1E1E2D"/>
                </a:solidFill>
              </a:defRPr>
            </a:pPr>
            <a:r>
              <a:t>Distribuição das classes</a:t>
            </a:r>
          </a:p>
        </p:txBody>
      </p:sp>
      <p:pic>
        <p:nvPicPr>
          <p:cNvPr id="11" name="Picture 10" descr="10_distribuicao_clas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572768"/>
            <a:ext cx="4846320" cy="40050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0">
                <a:solidFill>
                  <a:srgbClr val="BECDDC"/>
                </a:solidFill>
              </a:defRPr>
            </a:pPr>
            <a:r>
              <a:t>Classificação no projeto: transformar previsão em uma decisão acionável — COMPRAR_AGORA, MONITORAR ou AGUARDAR_QUEDA.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C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355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ECDDC"/>
                </a:solidFill>
              </a:defRPr>
            </a:pPr>
            <a:r>
              <a:t>Classificação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F5F8FF"/>
                </a:solidFill>
              </a:defRPr>
            </a:pPr>
            <a:r>
              <a:t>12. Como explicar a matriz de confusão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3200400" cy="2011680"/>
          </a:xfrm>
          <a:prstGeom prst="roundRect">
            <a:avLst/>
          </a:prstGeom>
          <a:solidFill>
            <a:srgbClr val="0E1C36"/>
          </a:solidFill>
          <a:ln>
            <a:solidFill>
              <a:srgbClr val="00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408176"/>
            <a:ext cx="287121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00DCA0"/>
                </a:solidFill>
              </a:defRPr>
            </a:pPr>
            <a:r>
              <a:t>Diagonal principal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810512"/>
            <a:ext cx="2871216" cy="13533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Mostra acertos do classificador: quando o real e o previsto são iguais.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80160"/>
            <a:ext cx="3200400" cy="2011680"/>
          </a:xfrm>
          <a:prstGeom prst="roundRect">
            <a:avLst/>
          </a:prstGeom>
          <a:solidFill>
            <a:srgbClr val="0E1C36"/>
          </a:solidFill>
          <a:ln>
            <a:solidFill>
              <a:srgbClr val="FF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408176"/>
            <a:ext cx="287121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FF5858"/>
                </a:solidFill>
              </a:defRPr>
            </a:pPr>
            <a:r>
              <a:t>Fora da diagonal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1810512"/>
            <a:ext cx="2871216" cy="13533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Mostra erros: por exemplo, quando o sistema recomenda monitorar, mas a decisão correta seria comprar.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280160"/>
            <a:ext cx="3200400" cy="2011680"/>
          </a:xfrm>
          <a:prstGeom prst="roundRect">
            <a:avLst/>
          </a:prstGeom>
          <a:solidFill>
            <a:srgbClr val="0E1C36"/>
          </a:solidFill>
          <a:ln>
            <a:solidFill>
              <a:srgbClr val="0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1" y="1408176"/>
            <a:ext cx="287121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00D6FF"/>
                </a:solidFill>
              </a:defRPr>
            </a:pPr>
            <a:r>
              <a:t>Uso na banca/empresa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9871" y="1810512"/>
            <a:ext cx="2871216" cy="13533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Demonstra que o projeto não só prevê valores, mas também avalia a qualidade da decisão automatizada.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206240"/>
            <a:ext cx="996696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900" b="1">
                <a:solidFill>
                  <a:srgbClr val="F5F8FF"/>
                </a:solidFill>
              </a:defRPr>
            </a:pPr>
            <a:r>
              <a:t>Essa parte conecta Machine Learning técnico com gestão: a empresa quer entender o risco de uma recomendação errada.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C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355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ECDDC"/>
                </a:solidFill>
              </a:defRPr>
            </a:pPr>
            <a:r>
              <a:t>Entregáveis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F5F8FF"/>
                </a:solidFill>
              </a:defRPr>
            </a:pPr>
            <a:r>
              <a:t>13. Arquivos CSV entregues para auditoria e explicação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143000"/>
            <a:ext cx="10424160" cy="658368"/>
          </a:xfrm>
          <a:prstGeom prst="roundRect">
            <a:avLst/>
          </a:prstGeom>
          <a:solidFill>
            <a:srgbClr val="0E1C36"/>
          </a:solidFill>
          <a:ln>
            <a:solidFill>
              <a:srgbClr val="0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271016"/>
            <a:ext cx="1009497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00D6FF"/>
                </a:solidFill>
              </a:defRPr>
            </a:pPr>
            <a:r>
              <a:t>01_historico_cotacoes.csv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673352"/>
            <a:ext cx="10094976" cy="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dataset bruto com moedas e cotações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29384"/>
            <a:ext cx="10424160" cy="658368"/>
          </a:xfrm>
          <a:prstGeom prst="roundRect">
            <a:avLst/>
          </a:prstGeom>
          <a:solidFill>
            <a:srgbClr val="0E1C36"/>
          </a:solidFill>
          <a:ln>
            <a:solidFill>
              <a:srgbClr val="0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057400"/>
            <a:ext cx="1009497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00D6FF"/>
                </a:solidFill>
              </a:defRPr>
            </a:pPr>
            <a:r>
              <a:t>02_features_usd_brl_ml.csv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459736"/>
            <a:ext cx="10094976" cy="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dataset tratado com atributos de 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715768"/>
            <a:ext cx="10424160" cy="658368"/>
          </a:xfrm>
          <a:prstGeom prst="roundRect">
            <a:avLst/>
          </a:prstGeom>
          <a:solidFill>
            <a:srgbClr val="0E1C36"/>
          </a:solidFill>
          <a:ln>
            <a:solidFill>
              <a:srgbClr val="0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843784"/>
            <a:ext cx="1009497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00D6FF"/>
                </a:solidFill>
              </a:defRPr>
            </a:pPr>
            <a:r>
              <a:t>03_divisao_treino_teste.csv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246120"/>
            <a:ext cx="10094976" cy="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amostras marcadas como treino/teste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502151"/>
            <a:ext cx="10424160" cy="658368"/>
          </a:xfrm>
          <a:prstGeom prst="roundRect">
            <a:avLst/>
          </a:prstGeom>
          <a:solidFill>
            <a:srgbClr val="0E1C36"/>
          </a:solidFill>
          <a:ln>
            <a:solidFill>
              <a:srgbClr val="0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630168"/>
            <a:ext cx="1009497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00D6FF"/>
                </a:solidFill>
              </a:defRPr>
            </a:pPr>
            <a:r>
              <a:t>04_metricas_modelos.csv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032503"/>
            <a:ext cx="10094976" cy="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comparação dos algoritmos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288536"/>
            <a:ext cx="10424160" cy="658368"/>
          </a:xfrm>
          <a:prstGeom prst="roundRect">
            <a:avLst/>
          </a:prstGeom>
          <a:solidFill>
            <a:srgbClr val="0E1C36"/>
          </a:solidFill>
          <a:ln>
            <a:solidFill>
              <a:srgbClr val="0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4416551"/>
            <a:ext cx="1009497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00D6FF"/>
                </a:solidFill>
              </a:defRPr>
            </a:pPr>
            <a:r>
              <a:t>05_previsoes_regressao_teste.csv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4818888"/>
            <a:ext cx="10094976" cy="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valores reais vs previstos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074920"/>
            <a:ext cx="10424160" cy="658368"/>
          </a:xfrm>
          <a:prstGeom prst="roundRect">
            <a:avLst/>
          </a:prstGeom>
          <a:solidFill>
            <a:srgbClr val="0E1C36"/>
          </a:solidFill>
          <a:ln>
            <a:solidFill>
              <a:srgbClr val="0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5202936"/>
            <a:ext cx="1009497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00D6FF"/>
                </a:solidFill>
              </a:defRPr>
            </a:pPr>
            <a:r>
              <a:t>06_matriz_confusao_classificacao.csv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5605272"/>
            <a:ext cx="10094976" cy="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base da matriz de classificação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C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355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ECDDC"/>
                </a:solidFill>
              </a:defRPr>
            </a:pPr>
            <a:r>
              <a:t>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F5F8FF"/>
                </a:solidFill>
              </a:defRPr>
            </a:pPr>
            <a:r>
              <a:t>14. Onde o ML entra dentro do sistema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108960" cy="1554480"/>
          </a:xfrm>
          <a:prstGeom prst="roundRect">
            <a:avLst/>
          </a:prstGeom>
          <a:solidFill>
            <a:srgbClr val="0E1C36"/>
          </a:solidFill>
          <a:ln>
            <a:solidFill>
              <a:srgbClr val="0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08176"/>
            <a:ext cx="277977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00D6FF"/>
                </a:solidFill>
              </a:defRPr>
            </a:pPr>
            <a:r>
              <a:t>Backend FastAPI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810512"/>
            <a:ext cx="2779776" cy="8961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Expõe endpoints para coletar, treinar, prever e gerar relatórios.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280160"/>
            <a:ext cx="3108960" cy="1554480"/>
          </a:xfrm>
          <a:prstGeom prst="roundRect">
            <a:avLst/>
          </a:prstGeom>
          <a:solidFill>
            <a:srgbClr val="0E1C36"/>
          </a:solidFill>
          <a:ln>
            <a:solidFill>
              <a:srgbClr val="00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408176"/>
            <a:ext cx="277977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00DCA0"/>
                </a:solidFill>
              </a:defRPr>
            </a:pPr>
            <a:r>
              <a:t>Banco SQLite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1810512"/>
            <a:ext cx="2779776" cy="8961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Guarda histórico de cotações, métricas e recomendações.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108960" cy="1554480"/>
          </a:xfrm>
          <a:prstGeom prst="roundRect">
            <a:avLst/>
          </a:prstGeom>
          <a:solidFill>
            <a:srgbClr val="0E1C36"/>
          </a:solidFill>
          <a:ln>
            <a:solidFill>
              <a:srgbClr val="8C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1408176"/>
            <a:ext cx="277977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8C5AFF"/>
                </a:solidFill>
              </a:defRPr>
            </a:pPr>
            <a:r>
              <a:t>Serviço de 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1810512"/>
            <a:ext cx="2779776" cy="8961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Cria features, separa treino/teste e compara algoritmos.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3749039"/>
            <a:ext cx="3474720" cy="1554480"/>
          </a:xfrm>
          <a:prstGeom prst="roundRect">
            <a:avLst/>
          </a:prstGeom>
          <a:solidFill>
            <a:srgbClr val="0E1C36"/>
          </a:solidFill>
          <a:ln>
            <a:solidFill>
              <a:srgbClr val="FFB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93392" y="3877055"/>
            <a:ext cx="314553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FFB241"/>
                </a:solidFill>
              </a:defRPr>
            </a:pPr>
            <a:r>
              <a:t>Relatório Excel/CSV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93392" y="4279392"/>
            <a:ext cx="3145536" cy="8961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Entrega visual e auditável para banca, gestão e cliente.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749039"/>
            <a:ext cx="3474720" cy="1554480"/>
          </a:xfrm>
          <a:prstGeom prst="roundRect">
            <a:avLst/>
          </a:prstGeom>
          <a:solidFill>
            <a:srgbClr val="0E1C36"/>
          </a:solidFill>
          <a:ln>
            <a:solidFill>
              <a:srgbClr val="0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3877055"/>
            <a:ext cx="314553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00D6FF"/>
                </a:solidFill>
              </a:defRPr>
            </a:pPr>
            <a:r>
              <a:t>Frontend React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4279392"/>
            <a:ext cx="3145536" cy="8961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Dashboard para demonstrar coleta, IA e ciclo de análise.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C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355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ECDDC"/>
                </a:solidFill>
              </a:defRPr>
            </a:pPr>
            <a:r>
              <a:t>Fechamento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F5F8FF"/>
                </a:solidFill>
              </a:defRPr>
            </a:pPr>
            <a:r>
              <a:t>15. Conclusão para banca e empresa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1554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400" b="1">
                <a:solidFill>
                  <a:srgbClr val="F5F8FF"/>
                </a:solidFill>
              </a:defRPr>
            </a:pPr>
            <a:r>
              <a:t>O FX AI Hub demonstra uma aplicação completa de Machine Learning aplicada a dados financeiros reais: coleta, dataset, features, treino/teste, regressão, classificação, métricas, relatório e decisão.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703320"/>
            <a:ext cx="3383280" cy="1463040"/>
          </a:xfrm>
          <a:prstGeom prst="roundRect">
            <a:avLst/>
          </a:prstGeom>
          <a:solidFill>
            <a:srgbClr val="0E1C36"/>
          </a:solidFill>
          <a:ln>
            <a:solidFill>
              <a:srgbClr val="00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3831335"/>
            <a:ext cx="305409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00DCA0"/>
                </a:solidFill>
              </a:defRPr>
            </a:pPr>
            <a:r>
              <a:t>Valor acadêmico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4233672"/>
            <a:ext cx="3054096" cy="8046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Mostra domínio de pipeline de dados, modelagem supervisionada e avaliação.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3703320"/>
            <a:ext cx="3383280" cy="1463040"/>
          </a:xfrm>
          <a:prstGeom prst="roundRect">
            <a:avLst/>
          </a:prstGeom>
          <a:solidFill>
            <a:srgbClr val="0E1C36"/>
          </a:solidFill>
          <a:ln>
            <a:solidFill>
              <a:srgbClr val="0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3831335"/>
            <a:ext cx="305409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00D6FF"/>
                </a:solidFill>
              </a:defRPr>
            </a:pPr>
            <a:r>
              <a:t>Valor empresarial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4233672"/>
            <a:ext cx="3054096" cy="8046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Traduz previsão em recomendação útil para compras e gestão.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3703320"/>
            <a:ext cx="3383280" cy="1463040"/>
          </a:xfrm>
          <a:prstGeom prst="roundRect">
            <a:avLst/>
          </a:prstGeom>
          <a:solidFill>
            <a:srgbClr val="0E1C36"/>
          </a:solidFill>
          <a:ln>
            <a:solidFill>
              <a:srgbClr val="8C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3831335"/>
            <a:ext cx="305409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8C5AFF"/>
                </a:solidFill>
              </a:defRPr>
            </a:pPr>
            <a:r>
              <a:t>Valor técnico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4233672"/>
            <a:ext cx="3054096" cy="8046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Arquitetura modular em Python, FastAPI, React, CSVs e relatórios.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