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6256000" cy="9144000"/>
  <p:notesSz cx="9144000" cy="16256000"/>
  <p:embeddedFontLst>
    <p:embeddedFont>
      <p:font typeface="Liter" charset="-122" pitchFamily="34"/>
      <p:regular r:id="rId24"/>
    </p:embeddedFont>
    <p:embeddedFont>
      <p:font typeface="Quattrocento Sans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USD-BRL</c:v>
                </c:pt>
              </c:strCache>
            </c:strRef>
          </c:tx>
          <c:spPr>
            <a:solidFill>
              <a:srgbClr val="D4AF37"/>
            </a:solidFill>
            <a:ln w="25400" cap="flat">
              <a:solidFill>
                <a:srgbClr val="D4AF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F37"/>
              </a:solidFill>
              <a:ln w="9525" cap="flat">
                <a:solidFill>
                  <a:srgbClr val="D4AF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15/04</c:v>
                  </c:pt>
                  <c:pt idx="1">
                    <c:v>16/04</c:v>
                  </c:pt>
                  <c:pt idx="2">
                    <c:v>17/04</c:v>
                  </c:pt>
                  <c:pt idx="3">
                    <c:v>18/04</c:v>
                  </c:pt>
                  <c:pt idx="4">
                    <c:v>19/04</c:v>
                  </c:pt>
                  <c:pt idx="5">
                    <c:v>20/04</c:v>
                  </c:pt>
                  <c:pt idx="6">
                    <c:v>21/04</c:v>
                  </c:pt>
                  <c:pt idx="7">
                    <c:v>22/04</c:v>
                  </c:pt>
                  <c:pt idx="8">
                    <c:v>23/04</c:v>
                  </c:pt>
                  <c:pt idx="9">
                    <c:v>24/04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5.049</c:v>
                </c:pt>
                <c:pt idx="1">
                  <c:v>5.059</c:v>
                </c:pt>
                <c:pt idx="2">
                  <c:v>5.069</c:v>
                </c:pt>
                <c:pt idx="3">
                  <c:v>5.079</c:v>
                </c:pt>
                <c:pt idx="4">
                  <c:v>5.089</c:v>
                </c:pt>
                <c:pt idx="5">
                  <c:v>5.1</c:v>
                </c:pt>
                <c:pt idx="6">
                  <c:v>5.11</c:v>
                </c:pt>
                <c:pt idx="7">
                  <c:v>5.12</c:v>
                </c:pt>
                <c:pt idx="8">
                  <c:v>5.13</c:v>
                </c:pt>
                <c:pt idx="9">
                  <c:v>5.14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EUR-BRL</c:v>
                </c:pt>
              </c:strCache>
            </c:strRef>
          </c:tx>
          <c:spPr>
            <a:solidFill>
              <a:srgbClr val="4ECDC4"/>
            </a:solidFill>
            <a:ln w="25400" cap="flat">
              <a:solidFill>
                <a:srgbClr val="4ECD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ECDC4"/>
              </a:solidFill>
              <a:ln w="9525" cap="flat">
                <a:solidFill>
                  <a:srgbClr val="4ECD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15/04</c:v>
                  </c:pt>
                  <c:pt idx="1">
                    <c:v>16/04</c:v>
                  </c:pt>
                  <c:pt idx="2">
                    <c:v>17/04</c:v>
                  </c:pt>
                  <c:pt idx="3">
                    <c:v>18/04</c:v>
                  </c:pt>
                  <c:pt idx="4">
                    <c:v>19/04</c:v>
                  </c:pt>
                  <c:pt idx="5">
                    <c:v>20/04</c:v>
                  </c:pt>
                  <c:pt idx="6">
                    <c:v>21/04</c:v>
                  </c:pt>
                  <c:pt idx="7">
                    <c:v>22/04</c:v>
                  </c:pt>
                  <c:pt idx="8">
                    <c:v>23/04</c:v>
                  </c:pt>
                  <c:pt idx="9">
                    <c:v>24/04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5.494</c:v>
                </c:pt>
                <c:pt idx="1">
                  <c:v>5.505</c:v>
                </c:pt>
                <c:pt idx="2">
                  <c:v>5.516</c:v>
                </c:pt>
                <c:pt idx="3">
                  <c:v>5.527</c:v>
                </c:pt>
                <c:pt idx="4">
                  <c:v>5.538</c:v>
                </c:pt>
                <c:pt idx="5">
                  <c:v>5.55</c:v>
                </c:pt>
                <c:pt idx="6">
                  <c:v>5.561</c:v>
                </c:pt>
                <c:pt idx="7">
                  <c:v>5.572</c:v>
                </c:pt>
                <c:pt idx="8">
                  <c:v>5.583</c:v>
                </c:pt>
                <c:pt idx="9">
                  <c:v>5.594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GBP-BRL</c:v>
                </c:pt>
              </c:strCache>
            </c:strRef>
          </c:tx>
          <c:spPr>
            <a:solidFill>
              <a:srgbClr val="FF6B6B"/>
            </a:solidFill>
            <a:ln w="25400" cap="flat">
              <a:solidFill>
                <a:srgbClr val="FF6B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15/04</c:v>
                  </c:pt>
                  <c:pt idx="1">
                    <c:v>16/04</c:v>
                  </c:pt>
                  <c:pt idx="2">
                    <c:v>17/04</c:v>
                  </c:pt>
                  <c:pt idx="3">
                    <c:v>18/04</c:v>
                  </c:pt>
                  <c:pt idx="4">
                    <c:v>19/04</c:v>
                  </c:pt>
                  <c:pt idx="5">
                    <c:v>20/04</c:v>
                  </c:pt>
                  <c:pt idx="6">
                    <c:v>21/04</c:v>
                  </c:pt>
                  <c:pt idx="7">
                    <c:v>22/04</c:v>
                  </c:pt>
                  <c:pt idx="8">
                    <c:v>23/04</c:v>
                  </c:pt>
                  <c:pt idx="9">
                    <c:v>24/04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6.385</c:v>
                </c:pt>
                <c:pt idx="1">
                  <c:v>6.398</c:v>
                </c:pt>
                <c:pt idx="2">
                  <c:v>6.411</c:v>
                </c:pt>
                <c:pt idx="3">
                  <c:v>6.424</c:v>
                </c:pt>
                <c:pt idx="4">
                  <c:v>6.437</c:v>
                </c:pt>
                <c:pt idx="5">
                  <c:v>6.45</c:v>
                </c:pt>
                <c:pt idx="6">
                  <c:v>6.462</c:v>
                </c:pt>
                <c:pt idx="7">
                  <c:v>6.475</c:v>
                </c:pt>
                <c:pt idx="8">
                  <c:v>6.488</c:v>
                </c:pt>
                <c:pt idx="9">
                  <c:v>6.501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2a4e"/>
              </a:solidFill>
              <a:prstDash val="dash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a4e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Valor em BRL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0A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A0A0B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3bb2g446kv4e/mnt/agents/output/fx_import_ai_hub/images/cover_bg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540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0"/>
                </a:srgbClr>
              </a:gs>
              <a:gs pos="40000">
                <a:srgbClr val="0F0F1A">
                  <a:alpha val="60000"/>
                </a:srgbClr>
              </a:gs>
              <a:gs pos="100000">
                <a:srgbClr val="0F0F1A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111500"/>
            <a:ext cx="254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3655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spc="200" kern="0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FX IMPORT AI HUB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3048000" y="4318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Inteligente de Coleta e Analise de Cotacoes Cambiais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83000" y="5016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09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Automacao RPA + Machine Learning + Alertas em Tempo Real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9090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Fontes Oficiais do Banco Central do Brasil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6350000"/>
            <a:ext cx="2540000" cy="25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6731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Projeto de Sistemas Avancados | Aula de Apresentacao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Abril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300" kern="0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CONTEUDO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Estrutura da Apresentacao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14732000" cy="2540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1590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76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302000"/>
            <a:ext cx="628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Solucao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810000"/>
            <a:ext cx="628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Arquitetura do sistema, tecnologias e stack de desenvolvimento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91500" y="21590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8572500" y="2476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72500" y="3302000"/>
            <a:ext cx="628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Dados e Coleta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2500" y="3810000"/>
            <a:ext cx="628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Coleta automatica, historico cambial e analise exploratoria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3340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651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6477000"/>
            <a:ext cx="628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6985000"/>
            <a:ext cx="628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Learning, predicao de risco cambial e alertas inteligentes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91500" y="5334000"/>
            <a:ext cx="7048500" cy="2794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0" y="5651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72500" y="6477000"/>
            <a:ext cx="628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Cronograma e Resultados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72500" y="6985000"/>
            <a:ext cx="628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semanas de entregas incrementais e validacao piloto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| </a:t>
            </a:r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Solucao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Dados e Coleta | Inteligencia Artificial | Cronograma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Contexto e Problema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03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1841500" y="19685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Coleta Manual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Processos manuais de consulta a cotacoes consomem horas produtivas diariamente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336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1841500" y="33655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Erros Operacionais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Digitacao manual sujeita a erros que impactam decisoes financeiras e de compras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17600" y="4826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2544" y="-19764"/>
                </a:moveTo>
                <a:cubicBezTo>
                  <a:pt x="25083" y="-27226"/>
                  <a:pt x="13017" y="-27226"/>
                  <a:pt x="5636" y="-19764"/>
                </a:cubicBezTo>
                <a:cubicBezTo>
                  <a:pt x="-1746" y="-12303"/>
                  <a:pt x="-1826" y="-238"/>
                  <a:pt x="5556" y="7223"/>
                </a:cubicBezTo>
                <a:lnTo>
                  <a:pt x="424656" y="426323"/>
                </a:lnTo>
                <a:cubicBezTo>
                  <a:pt x="432118" y="433784"/>
                  <a:pt x="444183" y="433784"/>
                  <a:pt x="451564" y="426323"/>
                </a:cubicBezTo>
                <a:cubicBezTo>
                  <a:pt x="458946" y="418862"/>
                  <a:pt x="459026" y="406797"/>
                  <a:pt x="451564" y="399415"/>
                </a:cubicBezTo>
                <a:lnTo>
                  <a:pt x="382111" y="329962"/>
                </a:lnTo>
                <a:cubicBezTo>
                  <a:pt x="395764" y="328057"/>
                  <a:pt x="406321" y="316230"/>
                  <a:pt x="406321" y="302022"/>
                </a:cubicBezTo>
                <a:cubicBezTo>
                  <a:pt x="406321" y="295593"/>
                  <a:pt x="404178" y="289401"/>
                  <a:pt x="400129" y="284401"/>
                </a:cubicBezTo>
                <a:lnTo>
                  <a:pt x="392351" y="274717"/>
                </a:lnTo>
                <a:cubicBezTo>
                  <a:pt x="368617" y="244872"/>
                  <a:pt x="355600" y="207804"/>
                  <a:pt x="355600" y="169624"/>
                </a:cubicBezTo>
                <a:lnTo>
                  <a:pt x="355600" y="152400"/>
                </a:lnTo>
                <a:cubicBezTo>
                  <a:pt x="355600" y="90964"/>
                  <a:pt x="311944" y="39688"/>
                  <a:pt x="254000" y="27940"/>
                </a:cubicBezTo>
                <a:lnTo>
                  <a:pt x="254000" y="25400"/>
                </a:lnTo>
                <a:cubicBezTo>
                  <a:pt x="254000" y="11351"/>
                  <a:pt x="242649" y="0"/>
                  <a:pt x="228600" y="0"/>
                </a:cubicBezTo>
                <a:cubicBezTo>
                  <a:pt x="214551" y="0"/>
                  <a:pt x="203200" y="11351"/>
                  <a:pt x="203200" y="25400"/>
                </a:cubicBezTo>
                <a:lnTo>
                  <a:pt x="203200" y="27940"/>
                </a:lnTo>
                <a:cubicBezTo>
                  <a:pt x="172561" y="34131"/>
                  <a:pt x="145891" y="51435"/>
                  <a:pt x="127635" y="75327"/>
                </a:cubicBezTo>
                <a:lnTo>
                  <a:pt x="32544" y="-19764"/>
                </a:lnTo>
                <a:close/>
                <a:moveTo>
                  <a:pt x="101600" y="169545"/>
                </a:moveTo>
                <a:cubicBezTo>
                  <a:pt x="101600" y="207724"/>
                  <a:pt x="88582" y="244793"/>
                  <a:pt x="64770" y="274638"/>
                </a:cubicBezTo>
                <a:lnTo>
                  <a:pt x="56991" y="284321"/>
                </a:lnTo>
                <a:cubicBezTo>
                  <a:pt x="53022" y="289322"/>
                  <a:pt x="50800" y="295513"/>
                  <a:pt x="50800" y="301943"/>
                </a:cubicBezTo>
                <a:cubicBezTo>
                  <a:pt x="50800" y="317500"/>
                  <a:pt x="63421" y="330121"/>
                  <a:pt x="78978" y="330121"/>
                </a:cubicBezTo>
                <a:lnTo>
                  <a:pt x="265748" y="330121"/>
                </a:lnTo>
                <a:lnTo>
                  <a:pt x="101521" y="165894"/>
                </a:lnTo>
                <a:lnTo>
                  <a:pt x="101521" y="169466"/>
                </a:lnTo>
                <a:close/>
                <a:moveTo>
                  <a:pt x="228600" y="406400"/>
                </a:moveTo>
                <a:cubicBezTo>
                  <a:pt x="252254" y="406400"/>
                  <a:pt x="272177" y="390208"/>
                  <a:pt x="277813" y="368300"/>
                </a:cubicBezTo>
                <a:lnTo>
                  <a:pt x="179388" y="368300"/>
                </a:lnTo>
                <a:cubicBezTo>
                  <a:pt x="185023" y="390208"/>
                  <a:pt x="204946" y="406400"/>
                  <a:pt x="228600" y="4064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1841500" y="4762500"/>
            <a:ext cx="571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Falta de Alertas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 notificacoes em tempo real para variacoes cambiais significativas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615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1841500" y="6159500"/>
            <a:ext cx="571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 Previsao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Dificuldade em identificar tendencias e prever movimentos de mercado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36000" y="1968500"/>
            <a:ext cx="6858000" cy="54610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9080500" y="2286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290612" y="381000"/>
                </a:moveTo>
                <a:cubicBezTo>
                  <a:pt x="297855" y="358874"/>
                  <a:pt x="312341" y="338832"/>
                  <a:pt x="328712" y="321568"/>
                </a:cubicBezTo>
                <a:cubicBezTo>
                  <a:pt x="361156" y="287437"/>
                  <a:pt x="381000" y="241300"/>
                  <a:pt x="381000" y="190500"/>
                </a:cubicBezTo>
                <a:cubicBezTo>
                  <a:pt x="381000" y="85328"/>
                  <a:pt x="295672" y="0"/>
                  <a:pt x="190500" y="0"/>
                </a:cubicBezTo>
                <a:cubicBezTo>
                  <a:pt x="85328" y="0"/>
                  <a:pt x="0" y="85328"/>
                  <a:pt x="0" y="190500"/>
                </a:cubicBezTo>
                <a:cubicBezTo>
                  <a:pt x="0" y="241300"/>
                  <a:pt x="19844" y="287437"/>
                  <a:pt x="52288" y="321568"/>
                </a:cubicBezTo>
                <a:cubicBezTo>
                  <a:pt x="68659" y="338832"/>
                  <a:pt x="83245" y="358874"/>
                  <a:pt x="90388" y="381000"/>
                </a:cubicBezTo>
                <a:lnTo>
                  <a:pt x="290513" y="381000"/>
                </a:lnTo>
                <a:close/>
                <a:moveTo>
                  <a:pt x="285750" y="428625"/>
                </a:moveTo>
                <a:lnTo>
                  <a:pt x="95250" y="428625"/>
                </a:lnTo>
                <a:lnTo>
                  <a:pt x="95250" y="444500"/>
                </a:lnTo>
                <a:cubicBezTo>
                  <a:pt x="95250" y="488355"/>
                  <a:pt x="130770" y="523875"/>
                  <a:pt x="174625" y="523875"/>
                </a:cubicBezTo>
                <a:lnTo>
                  <a:pt x="206375" y="523875"/>
                </a:lnTo>
                <a:cubicBezTo>
                  <a:pt x="250230" y="523875"/>
                  <a:pt x="285750" y="488355"/>
                  <a:pt x="285750" y="444500"/>
                </a:cubicBezTo>
                <a:lnTo>
                  <a:pt x="285750" y="428625"/>
                </a:lnTo>
                <a:close/>
                <a:moveTo>
                  <a:pt x="182563" y="111125"/>
                </a:moveTo>
                <a:cubicBezTo>
                  <a:pt x="143073" y="111125"/>
                  <a:pt x="111125" y="143073"/>
                  <a:pt x="111125" y="182563"/>
                </a:cubicBezTo>
                <a:cubicBezTo>
                  <a:pt x="111125" y="195759"/>
                  <a:pt x="100509" y="206375"/>
                  <a:pt x="87313" y="206375"/>
                </a:cubicBezTo>
                <a:cubicBezTo>
                  <a:pt x="74116" y="206375"/>
                  <a:pt x="63500" y="195759"/>
                  <a:pt x="63500" y="182563"/>
                </a:cubicBezTo>
                <a:cubicBezTo>
                  <a:pt x="63500" y="116780"/>
                  <a:pt x="116780" y="63500"/>
                  <a:pt x="182563" y="63500"/>
                </a:cubicBezTo>
                <a:cubicBezTo>
                  <a:pt x="195759" y="63500"/>
                  <a:pt x="206375" y="74116"/>
                  <a:pt x="206375" y="87313"/>
                </a:cubicBezTo>
                <a:cubicBezTo>
                  <a:pt x="206375" y="100509"/>
                  <a:pt x="195759" y="111125"/>
                  <a:pt x="182563" y="111125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9017000" y="2984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Solucao: FX Import AI Hub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17000" y="3492500"/>
            <a:ext cx="762000" cy="25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9017000" y="3746500"/>
            <a:ext cx="609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avancado que integra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RPA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Artificial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para: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Coleta automatica de cotacoes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Atualizacao diaria em planilhas Excel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Alertas inteligentes em tempo real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Predicao com Machine Learning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Dashboard web interativo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g.freepik.com/premium-photo/abstract-glowing-forex-graph-dark-background-with-candlestick-invest-trade-broker-concept-3d-rendering_670147-36518.jp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95000"/>
                </a:srgbClr>
              </a:gs>
              <a:gs pos="60000">
                <a:srgbClr val="0F0F1A">
                  <a:alpha val="80000"/>
                </a:srgbClr>
              </a:gs>
              <a:gs pos="100000">
                <a:srgbClr val="0F0F1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2545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200" kern="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SOLUCAO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Arquitetura escalavel integrando RPA, Inteligencia Artificial e dados oficiais do Banco Central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| </a:t>
            </a:r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Solucao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Dados e Coleta | Inteligencia Artificial | Cronograma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Arquitetura do Sistema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7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1108075" y="2032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2032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FastAPI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603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APIs RESTful de alta performance para coleta, processamento e disponibilizacao de dados cambiais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77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6124575" y="2032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6731000" y="2032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Coleta BCB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2603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Coleta automatica diaria de cotacoes diretamente do Banco Central do Brasil via API oficial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77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69650" y="2032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190649" y="0"/>
                </a:lnTo>
                <a:cubicBezTo>
                  <a:pt x="205829" y="0"/>
                  <a:pt x="220385" y="5983"/>
                  <a:pt x="231100" y="16699"/>
                </a:cubicBezTo>
                <a:lnTo>
                  <a:pt x="326201" y="111889"/>
                </a:lnTo>
                <a:cubicBezTo>
                  <a:pt x="336917" y="122605"/>
                  <a:pt x="342900" y="137160"/>
                  <a:pt x="342900" y="152340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185738" y="52239"/>
                </a:moveTo>
                <a:lnTo>
                  <a:pt x="185738" y="135731"/>
                </a:lnTo>
                <a:cubicBezTo>
                  <a:pt x="185738" y="147608"/>
                  <a:pt x="195292" y="157163"/>
                  <a:pt x="207169" y="157163"/>
                </a:cubicBezTo>
                <a:lnTo>
                  <a:pt x="290661" y="157163"/>
                </a:lnTo>
                <a:lnTo>
                  <a:pt x="185738" y="52239"/>
                </a:lnTo>
                <a:close/>
                <a:moveTo>
                  <a:pt x="146447" y="238155"/>
                </a:moveTo>
                <a:cubicBezTo>
                  <a:pt x="139839" y="228332"/>
                  <a:pt x="126534" y="225653"/>
                  <a:pt x="116711" y="232172"/>
                </a:cubicBezTo>
                <a:cubicBezTo>
                  <a:pt x="106888" y="238691"/>
                  <a:pt x="104209" y="252085"/>
                  <a:pt x="110728" y="261908"/>
                </a:cubicBezTo>
                <a:lnTo>
                  <a:pt x="145733" y="314325"/>
                </a:lnTo>
                <a:lnTo>
                  <a:pt x="110728" y="366742"/>
                </a:lnTo>
                <a:cubicBezTo>
                  <a:pt x="104120" y="376565"/>
                  <a:pt x="106799" y="389870"/>
                  <a:pt x="116711" y="396478"/>
                </a:cubicBezTo>
                <a:cubicBezTo>
                  <a:pt x="126623" y="403086"/>
                  <a:pt x="139839" y="400407"/>
                  <a:pt x="146447" y="390495"/>
                </a:cubicBezTo>
                <a:lnTo>
                  <a:pt x="171450" y="352991"/>
                </a:lnTo>
                <a:lnTo>
                  <a:pt x="196453" y="390495"/>
                </a:lnTo>
                <a:cubicBezTo>
                  <a:pt x="203061" y="400318"/>
                  <a:pt x="216366" y="402997"/>
                  <a:pt x="226189" y="396478"/>
                </a:cubicBezTo>
                <a:cubicBezTo>
                  <a:pt x="236012" y="389959"/>
                  <a:pt x="238691" y="376565"/>
                  <a:pt x="232172" y="366742"/>
                </a:cubicBezTo>
                <a:lnTo>
                  <a:pt x="197168" y="314325"/>
                </a:lnTo>
                <a:lnTo>
                  <a:pt x="232172" y="261908"/>
                </a:lnTo>
                <a:cubicBezTo>
                  <a:pt x="238780" y="252085"/>
                  <a:pt x="236101" y="238780"/>
                  <a:pt x="226189" y="232172"/>
                </a:cubicBezTo>
                <a:cubicBezTo>
                  <a:pt x="216277" y="225564"/>
                  <a:pt x="203061" y="228243"/>
                  <a:pt x="196453" y="238155"/>
                </a:cubicBezTo>
                <a:lnTo>
                  <a:pt x="171450" y="275659"/>
                </a:lnTo>
                <a:lnTo>
                  <a:pt x="146447" y="238155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11747500" y="2032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 / CSV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12500" y="2603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Planilhas estruturadas e atualizadas automaticamente, prontas para analise e relatorios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61000" y="2794000"/>
            <a:ext cx="3175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477500" y="2794000"/>
            <a:ext cx="3175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762000" y="431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95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44381" y="28575"/>
                  <a:pt x="57150" y="41344"/>
                  <a:pt x="57150" y="57150"/>
                </a:cubicBez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71438" y="428625"/>
                </a:lnTo>
                <a:cubicBezTo>
                  <a:pt x="31968" y="428625"/>
                  <a:pt x="0" y="396657"/>
                  <a:pt x="0" y="357188"/>
                </a:cubicBezTo>
                <a:lnTo>
                  <a:pt x="0" y="57150"/>
                </a:lnTo>
                <a:cubicBezTo>
                  <a:pt x="0" y="41344"/>
                  <a:pt x="12769" y="28575"/>
                  <a:pt x="28575" y="28575"/>
                </a:cubicBezTo>
                <a:close/>
                <a:moveTo>
                  <a:pt x="128588" y="200025"/>
                </a:moveTo>
                <a:cubicBezTo>
                  <a:pt x="144393" y="200025"/>
                  <a:pt x="157163" y="212794"/>
                  <a:pt x="157163" y="228600"/>
                </a:cubicBezTo>
                <a:lnTo>
                  <a:pt x="157163" y="285750"/>
                </a:lnTo>
                <a:cubicBezTo>
                  <a:pt x="157163" y="301556"/>
                  <a:pt x="144393" y="314325"/>
                  <a:pt x="128588" y="314325"/>
                </a:cubicBezTo>
                <a:cubicBezTo>
                  <a:pt x="112782" y="314325"/>
                  <a:pt x="100013" y="301556"/>
                  <a:pt x="100013" y="285750"/>
                </a:cubicBezTo>
                <a:lnTo>
                  <a:pt x="100013" y="228600"/>
                </a:lnTo>
                <a:cubicBezTo>
                  <a:pt x="100013" y="212794"/>
                  <a:pt x="112782" y="200025"/>
                  <a:pt x="128588" y="200025"/>
                </a:cubicBezTo>
                <a:close/>
                <a:moveTo>
                  <a:pt x="257175" y="142875"/>
                </a:moveTo>
                <a:lnTo>
                  <a:pt x="257175" y="285750"/>
                </a:lnTo>
                <a:cubicBezTo>
                  <a:pt x="257175" y="301556"/>
                  <a:pt x="244406" y="314325"/>
                  <a:pt x="228600" y="314325"/>
                </a:cubicBezTo>
                <a:cubicBezTo>
                  <a:pt x="212794" y="314325"/>
                  <a:pt x="200025" y="301556"/>
                  <a:pt x="200025" y="285750"/>
                </a:cubicBezTo>
                <a:lnTo>
                  <a:pt x="200025" y="142875"/>
                </a:lnTo>
                <a:cubicBezTo>
                  <a:pt x="200025" y="127069"/>
                  <a:pt x="212794" y="114300"/>
                  <a:pt x="228600" y="114300"/>
                </a:cubicBezTo>
                <a:cubicBezTo>
                  <a:pt x="244406" y="114300"/>
                  <a:pt x="257175" y="127069"/>
                  <a:pt x="257175" y="142875"/>
                </a:cubicBezTo>
                <a:close/>
                <a:moveTo>
                  <a:pt x="328613" y="171450"/>
                </a:moveTo>
                <a:cubicBezTo>
                  <a:pt x="344418" y="171450"/>
                  <a:pt x="357188" y="184219"/>
                  <a:pt x="357188" y="200025"/>
                </a:cubicBezTo>
                <a:lnTo>
                  <a:pt x="357188" y="285750"/>
                </a:lnTo>
                <a:cubicBezTo>
                  <a:pt x="357188" y="301556"/>
                  <a:pt x="344418" y="314325"/>
                  <a:pt x="328613" y="314325"/>
                </a:cubicBezTo>
                <a:cubicBezTo>
                  <a:pt x="312807" y="314325"/>
                  <a:pt x="300038" y="301556"/>
                  <a:pt x="300038" y="285750"/>
                </a:cubicBezTo>
                <a:lnTo>
                  <a:pt x="300038" y="200025"/>
                </a:lnTo>
                <a:cubicBezTo>
                  <a:pt x="300038" y="184219"/>
                  <a:pt x="312807" y="171450"/>
                  <a:pt x="328613" y="171450"/>
                </a:cubicBezTo>
                <a:close/>
                <a:moveTo>
                  <a:pt x="457200" y="85725"/>
                </a:moveTo>
                <a:lnTo>
                  <a:pt x="457200" y="285750"/>
                </a:lnTo>
                <a:cubicBezTo>
                  <a:pt x="457200" y="301556"/>
                  <a:pt x="444431" y="314325"/>
                  <a:pt x="428625" y="314325"/>
                </a:cubicBezTo>
                <a:cubicBezTo>
                  <a:pt x="412819" y="314325"/>
                  <a:pt x="400050" y="301556"/>
                  <a:pt x="400050" y="285750"/>
                </a:cubicBezTo>
                <a:lnTo>
                  <a:pt x="400050" y="85725"/>
                </a:lnTo>
                <a:cubicBezTo>
                  <a:pt x="400050" y="69919"/>
                  <a:pt x="412819" y="57150"/>
                  <a:pt x="428625" y="57150"/>
                </a:cubicBezTo>
                <a:cubicBezTo>
                  <a:pt x="444431" y="57150"/>
                  <a:pt x="457200" y="69919"/>
                  <a:pt x="457200" y="8572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1714500" y="4572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Streamlit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9500" y="5143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web interativa para visualizacao de cotacoes, graficos e indicadores em tempo real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8500" y="431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0" y="457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6731000" y="4572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/ Predicao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0" y="5143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 de Machine Learning para predicao de tendencias e calculo de risco cambial (VaR)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795000" y="431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1075" y="4572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0"/>
                </a:moveTo>
                <a:cubicBezTo>
                  <a:pt x="184219" y="0"/>
                  <a:pt x="171450" y="12769"/>
                  <a:pt x="171450" y="28575"/>
                </a:cubicBezTo>
                <a:lnTo>
                  <a:pt x="171450" y="31433"/>
                </a:lnTo>
                <a:cubicBezTo>
                  <a:pt x="106263" y="44648"/>
                  <a:pt x="57150" y="102334"/>
                  <a:pt x="57150" y="171450"/>
                </a:cubicBezTo>
                <a:lnTo>
                  <a:pt x="57150" y="190827"/>
                </a:lnTo>
                <a:cubicBezTo>
                  <a:pt x="57150" y="233779"/>
                  <a:pt x="42505" y="275481"/>
                  <a:pt x="15716" y="309056"/>
                </a:cubicBezTo>
                <a:lnTo>
                  <a:pt x="6965" y="319951"/>
                </a:lnTo>
                <a:cubicBezTo>
                  <a:pt x="2411" y="325576"/>
                  <a:pt x="0" y="332542"/>
                  <a:pt x="0" y="339775"/>
                </a:cubicBezTo>
                <a:cubicBezTo>
                  <a:pt x="0" y="357277"/>
                  <a:pt x="14198" y="371475"/>
                  <a:pt x="31700" y="371475"/>
                </a:cubicBezTo>
                <a:lnTo>
                  <a:pt x="368260" y="371475"/>
                </a:lnTo>
                <a:cubicBezTo>
                  <a:pt x="385763" y="371475"/>
                  <a:pt x="399961" y="357277"/>
                  <a:pt x="399961" y="339775"/>
                </a:cubicBezTo>
                <a:cubicBezTo>
                  <a:pt x="399961" y="332542"/>
                  <a:pt x="397550" y="325576"/>
                  <a:pt x="392996" y="319951"/>
                </a:cubicBezTo>
                <a:lnTo>
                  <a:pt x="384244" y="309056"/>
                </a:lnTo>
                <a:cubicBezTo>
                  <a:pt x="357545" y="275481"/>
                  <a:pt x="342900" y="233779"/>
                  <a:pt x="342900" y="190827"/>
                </a:cubicBezTo>
                <a:lnTo>
                  <a:pt x="342900" y="171450"/>
                </a:lnTo>
                <a:cubicBezTo>
                  <a:pt x="342900" y="102334"/>
                  <a:pt x="293787" y="44648"/>
                  <a:pt x="228600" y="31432"/>
                </a:cubicBezTo>
                <a:lnTo>
                  <a:pt x="228600" y="28575"/>
                </a:lnTo>
                <a:cubicBezTo>
                  <a:pt x="228600" y="12769"/>
                  <a:pt x="215831" y="0"/>
                  <a:pt x="200025" y="0"/>
                </a:cubicBezTo>
                <a:close/>
                <a:moveTo>
                  <a:pt x="144661" y="414338"/>
                </a:moveTo>
                <a:cubicBezTo>
                  <a:pt x="151001" y="438983"/>
                  <a:pt x="173415" y="457200"/>
                  <a:pt x="200025" y="457200"/>
                </a:cubicBezTo>
                <a:cubicBezTo>
                  <a:pt x="226635" y="457200"/>
                  <a:pt x="249049" y="438983"/>
                  <a:pt x="255389" y="414338"/>
                </a:cubicBezTo>
                <a:lnTo>
                  <a:pt x="144661" y="414338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11747500" y="4572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Alertas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12500" y="5143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Notificacoes inteligentes via Gmail e Telegram para variacoes e eventos de mercado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61000" y="5334000"/>
            <a:ext cx="317500" cy="0"/>
          </a:xfrm>
          <a:prstGeom prst="straightConnector1">
            <a:avLst/>
          </a:prstGeom>
          <a:noFill/>
          <a:ln w="25400">
            <a:solidFill>
              <a:srgbClr val="4ECDC4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0477500" y="5334000"/>
            <a:ext cx="317500" cy="0"/>
          </a:xfrm>
          <a:prstGeom prst="straightConnector1">
            <a:avLst/>
          </a:prstGeom>
          <a:noFill/>
          <a:ln w="25400">
            <a:solidFill>
              <a:srgbClr val="4ECDC4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762000" y="6858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000" y="717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D4AF37"/>
          </a:solidFill>
          <a:ln/>
        </p:spPr>
      </p:sp>
      <p:sp>
        <p:nvSpPr>
          <p:cNvPr id="36" name="Text 34"/>
          <p:cNvSpPr/>
          <p:nvPr/>
        </p:nvSpPr>
        <p:spPr>
          <a:xfrm>
            <a:off x="1778000" y="711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Infraestrutura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778000" y="7556500"/>
            <a:ext cx="133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+ Docker Compose | Git Versionamento | Deploy Escalavel | Arquitetura Modular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| </a:t>
            </a:r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Solucao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Dados e Coleta | Inteligencia Artificial | Cronograma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Tecnologias e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78000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1108075" y="2095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92728" y="179040"/>
                </a:moveTo>
                <a:cubicBezTo>
                  <a:pt x="385852" y="151448"/>
                  <a:pt x="372814" y="130641"/>
                  <a:pt x="345043" y="130641"/>
                </a:cubicBezTo>
                <a:lnTo>
                  <a:pt x="309235" y="130641"/>
                </a:lnTo>
                <a:lnTo>
                  <a:pt x="309235" y="172968"/>
                </a:lnTo>
                <a:cubicBezTo>
                  <a:pt x="309235" y="205829"/>
                  <a:pt x="281374" y="233511"/>
                  <a:pt x="249585" y="233511"/>
                </a:cubicBezTo>
                <a:lnTo>
                  <a:pt x="154216" y="233511"/>
                </a:lnTo>
                <a:cubicBezTo>
                  <a:pt x="128141" y="233511"/>
                  <a:pt x="106531" y="255836"/>
                  <a:pt x="106531" y="282000"/>
                </a:cubicBezTo>
                <a:lnTo>
                  <a:pt x="106531" y="372904"/>
                </a:lnTo>
                <a:cubicBezTo>
                  <a:pt x="106531" y="398800"/>
                  <a:pt x="129034" y="413980"/>
                  <a:pt x="154216" y="421392"/>
                </a:cubicBezTo>
                <a:cubicBezTo>
                  <a:pt x="184398" y="430232"/>
                  <a:pt x="213420" y="431840"/>
                  <a:pt x="249585" y="421392"/>
                </a:cubicBezTo>
                <a:cubicBezTo>
                  <a:pt x="273606" y="414427"/>
                  <a:pt x="297269" y="400407"/>
                  <a:pt x="297269" y="372904"/>
                </a:cubicBezTo>
                <a:lnTo>
                  <a:pt x="297269" y="336560"/>
                </a:lnTo>
                <a:lnTo>
                  <a:pt x="201990" y="336560"/>
                </a:lnTo>
                <a:lnTo>
                  <a:pt x="201990" y="324416"/>
                </a:lnTo>
                <a:lnTo>
                  <a:pt x="345043" y="324416"/>
                </a:lnTo>
                <a:cubicBezTo>
                  <a:pt x="372814" y="324416"/>
                  <a:pt x="383084" y="305038"/>
                  <a:pt x="392728" y="276017"/>
                </a:cubicBezTo>
                <a:cubicBezTo>
                  <a:pt x="402729" y="246102"/>
                  <a:pt x="402282" y="217349"/>
                  <a:pt x="392728" y="179040"/>
                </a:cubicBezTo>
                <a:close/>
                <a:moveTo>
                  <a:pt x="255568" y="397103"/>
                </a:moveTo>
                <a:cubicBezTo>
                  <a:pt x="248771" y="397580"/>
                  <a:pt x="242277" y="394224"/>
                  <a:pt x="238734" y="388405"/>
                </a:cubicBezTo>
                <a:cubicBezTo>
                  <a:pt x="235191" y="382586"/>
                  <a:pt x="235191" y="375276"/>
                  <a:pt x="238734" y="369457"/>
                </a:cubicBezTo>
                <a:cubicBezTo>
                  <a:pt x="242277" y="363638"/>
                  <a:pt x="248771" y="360283"/>
                  <a:pt x="255568" y="360759"/>
                </a:cubicBezTo>
                <a:cubicBezTo>
                  <a:pt x="262364" y="360283"/>
                  <a:pt x="268858" y="363638"/>
                  <a:pt x="272401" y="369457"/>
                </a:cubicBezTo>
                <a:cubicBezTo>
                  <a:pt x="275945" y="375276"/>
                  <a:pt x="275945" y="382586"/>
                  <a:pt x="272401" y="388405"/>
                </a:cubicBezTo>
                <a:cubicBezTo>
                  <a:pt x="268858" y="394224"/>
                  <a:pt x="262364" y="397580"/>
                  <a:pt x="255568" y="397103"/>
                </a:cubicBezTo>
                <a:close/>
                <a:moveTo>
                  <a:pt x="149840" y="221546"/>
                </a:moveTo>
                <a:lnTo>
                  <a:pt x="245209" y="221546"/>
                </a:lnTo>
                <a:cubicBezTo>
                  <a:pt x="271730" y="221546"/>
                  <a:pt x="292894" y="199668"/>
                  <a:pt x="292894" y="173057"/>
                </a:cubicBezTo>
                <a:lnTo>
                  <a:pt x="292894" y="82064"/>
                </a:lnTo>
                <a:cubicBezTo>
                  <a:pt x="292894" y="56168"/>
                  <a:pt x="271105" y="36790"/>
                  <a:pt x="245209" y="32415"/>
                </a:cubicBezTo>
                <a:cubicBezTo>
                  <a:pt x="213241" y="27146"/>
                  <a:pt x="178504" y="27414"/>
                  <a:pt x="149840" y="32504"/>
                </a:cubicBezTo>
                <a:cubicBezTo>
                  <a:pt x="109478" y="39648"/>
                  <a:pt x="102156" y="54560"/>
                  <a:pt x="102156" y="82153"/>
                </a:cubicBezTo>
                <a:lnTo>
                  <a:pt x="102156" y="118497"/>
                </a:lnTo>
                <a:lnTo>
                  <a:pt x="197614" y="118497"/>
                </a:lnTo>
                <a:lnTo>
                  <a:pt x="197614" y="130641"/>
                </a:lnTo>
                <a:lnTo>
                  <a:pt x="66348" y="130641"/>
                </a:lnTo>
                <a:cubicBezTo>
                  <a:pt x="38576" y="130641"/>
                  <a:pt x="14288" y="147340"/>
                  <a:pt x="6697" y="179040"/>
                </a:cubicBezTo>
                <a:cubicBezTo>
                  <a:pt x="-2054" y="215384"/>
                  <a:pt x="-2411" y="238065"/>
                  <a:pt x="6697" y="276017"/>
                </a:cubicBezTo>
                <a:cubicBezTo>
                  <a:pt x="13484" y="304234"/>
                  <a:pt x="29647" y="324416"/>
                  <a:pt x="57418" y="324416"/>
                </a:cubicBezTo>
                <a:lnTo>
                  <a:pt x="90190" y="324416"/>
                </a:lnTo>
                <a:lnTo>
                  <a:pt x="90190" y="280839"/>
                </a:lnTo>
                <a:cubicBezTo>
                  <a:pt x="90190" y="249317"/>
                  <a:pt x="117425" y="221546"/>
                  <a:pt x="149840" y="221546"/>
                </a:cubicBezTo>
                <a:close/>
                <a:moveTo>
                  <a:pt x="143947" y="57775"/>
                </a:moveTo>
                <a:cubicBezTo>
                  <a:pt x="154001" y="57775"/>
                  <a:pt x="162163" y="65938"/>
                  <a:pt x="162163" y="75992"/>
                </a:cubicBezTo>
                <a:cubicBezTo>
                  <a:pt x="162163" y="86046"/>
                  <a:pt x="154001" y="94208"/>
                  <a:pt x="143947" y="94208"/>
                </a:cubicBezTo>
                <a:cubicBezTo>
                  <a:pt x="133893" y="94208"/>
                  <a:pt x="125730" y="86046"/>
                  <a:pt x="125730" y="75992"/>
                </a:cubicBezTo>
                <a:cubicBezTo>
                  <a:pt x="125730" y="65938"/>
                  <a:pt x="133893" y="57775"/>
                  <a:pt x="143947" y="5777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2730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+ FastAPI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1750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de alta performance com APIs RESTful assincronas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08500" y="1778000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4854575" y="2095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8600" y="142875"/>
                </a:moveTo>
                <a:lnTo>
                  <a:pt x="228600" y="228600"/>
                </a:lnTo>
                <a:lnTo>
                  <a:pt x="342900" y="228600"/>
                </a:lnTo>
                <a:lnTo>
                  <a:pt x="342900" y="142875"/>
                </a:lnTo>
                <a:lnTo>
                  <a:pt x="228600" y="142875"/>
                </a:lnTo>
                <a:close/>
                <a:moveTo>
                  <a:pt x="171450" y="142875"/>
                </a:moveTo>
                <a:lnTo>
                  <a:pt x="57150" y="142875"/>
                </a:lnTo>
                <a:lnTo>
                  <a:pt x="57150" y="228600"/>
                </a:lnTo>
                <a:lnTo>
                  <a:pt x="171450" y="228600"/>
                </a:lnTo>
                <a:lnTo>
                  <a:pt x="171450" y="142875"/>
                </a:lnTo>
                <a:close/>
                <a:moveTo>
                  <a:pt x="0" y="285750"/>
                </a:move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342900" y="28575"/>
                </a:lnTo>
                <a:cubicBezTo>
                  <a:pt x="374422" y="28575"/>
                  <a:pt x="400050" y="54203"/>
                  <a:pt x="400050" y="85725"/>
                </a:cubicBezTo>
                <a:lnTo>
                  <a:pt x="400050" y="371475"/>
                </a:lnTo>
                <a:cubicBezTo>
                  <a:pt x="400050" y="402997"/>
                  <a:pt x="374422" y="428625"/>
                  <a:pt x="342900" y="428625"/>
                </a:cubicBezTo>
                <a:lnTo>
                  <a:pt x="57150" y="428625"/>
                </a:lnTo>
                <a:cubicBezTo>
                  <a:pt x="25628" y="428625"/>
                  <a:pt x="0" y="402997"/>
                  <a:pt x="0" y="371475"/>
                </a:cubicBezTo>
                <a:lnTo>
                  <a:pt x="0" y="285750"/>
                </a:lnTo>
                <a:close/>
                <a:moveTo>
                  <a:pt x="342900" y="285750"/>
                </a:moveTo>
                <a:lnTo>
                  <a:pt x="228600" y="285750"/>
                </a:lnTo>
                <a:lnTo>
                  <a:pt x="228600" y="371475"/>
                </a:lnTo>
                <a:lnTo>
                  <a:pt x="342900" y="371475"/>
                </a:lnTo>
                <a:lnTo>
                  <a:pt x="342900" y="285750"/>
                </a:lnTo>
                <a:close/>
                <a:moveTo>
                  <a:pt x="171450" y="371475"/>
                </a:moveTo>
                <a:lnTo>
                  <a:pt x="171450" y="285750"/>
                </a:lnTo>
                <a:lnTo>
                  <a:pt x="57150" y="285750"/>
                </a:lnTo>
                <a:lnTo>
                  <a:pt x="57150" y="371475"/>
                </a:lnTo>
                <a:lnTo>
                  <a:pt x="171450" y="37147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4826000" y="2730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 + Excel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6000" y="31750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Manipulacao de dados e geracao automatica de planilhas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0" y="1778000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5725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8572500" y="2730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72500" y="31750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web interativo para visualizacao de dados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001500" y="1778000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319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12319000" y="2730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19000" y="31750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de ML para predicao e classificacao cambial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207000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2350" y="5524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4325" y="0"/>
                </a:moveTo>
                <a:cubicBezTo>
                  <a:pt x="314325" y="-15806"/>
                  <a:pt x="301556" y="-28575"/>
                  <a:pt x="285750" y="-28575"/>
                </a:cubicBezTo>
                <a:cubicBezTo>
                  <a:pt x="269944" y="-28575"/>
                  <a:pt x="257175" y="-15806"/>
                  <a:pt x="257175" y="0"/>
                </a:cubicBezTo>
                <a:lnTo>
                  <a:pt x="257175" y="57150"/>
                </a:lnTo>
                <a:lnTo>
                  <a:pt x="171450" y="57150"/>
                </a:lnTo>
                <a:cubicBezTo>
                  <a:pt x="124123" y="57150"/>
                  <a:pt x="85725" y="95548"/>
                  <a:pt x="85725" y="142875"/>
                </a:cubicBezTo>
                <a:lnTo>
                  <a:pt x="85725" y="342900"/>
                </a:lnTo>
                <a:cubicBezTo>
                  <a:pt x="85725" y="390227"/>
                  <a:pt x="124123" y="428625"/>
                  <a:pt x="171450" y="428625"/>
                </a:cubicBezTo>
                <a:lnTo>
                  <a:pt x="400050" y="428625"/>
                </a:lnTo>
                <a:cubicBezTo>
                  <a:pt x="447377" y="428625"/>
                  <a:pt x="485775" y="390227"/>
                  <a:pt x="485775" y="342900"/>
                </a:cubicBezTo>
                <a:lnTo>
                  <a:pt x="485775" y="142875"/>
                </a:lnTo>
                <a:cubicBezTo>
                  <a:pt x="485775" y="95548"/>
                  <a:pt x="447377" y="57150"/>
                  <a:pt x="400050" y="57150"/>
                </a:cubicBezTo>
                <a:lnTo>
                  <a:pt x="314325" y="57150"/>
                </a:lnTo>
                <a:lnTo>
                  <a:pt x="314325" y="0"/>
                </a:lnTo>
                <a:close/>
                <a:moveTo>
                  <a:pt x="142875" y="328613"/>
                </a:moveTo>
                <a:cubicBezTo>
                  <a:pt x="142875" y="316736"/>
                  <a:pt x="152430" y="307181"/>
                  <a:pt x="164306" y="307181"/>
                </a:cubicBezTo>
                <a:lnTo>
                  <a:pt x="192881" y="307181"/>
                </a:lnTo>
                <a:cubicBezTo>
                  <a:pt x="204758" y="307181"/>
                  <a:pt x="214313" y="316736"/>
                  <a:pt x="214313" y="328613"/>
                </a:cubicBezTo>
                <a:cubicBezTo>
                  <a:pt x="214313" y="340489"/>
                  <a:pt x="204758" y="350044"/>
                  <a:pt x="192881" y="350044"/>
                </a:cubicBezTo>
                <a:lnTo>
                  <a:pt x="164306" y="350044"/>
                </a:lnTo>
                <a:cubicBezTo>
                  <a:pt x="152430" y="350044"/>
                  <a:pt x="142875" y="340489"/>
                  <a:pt x="142875" y="328613"/>
                </a:cubicBezTo>
                <a:close/>
                <a:moveTo>
                  <a:pt x="250031" y="328613"/>
                </a:moveTo>
                <a:cubicBezTo>
                  <a:pt x="250031" y="316736"/>
                  <a:pt x="259586" y="307181"/>
                  <a:pt x="271463" y="307181"/>
                </a:cubicBezTo>
                <a:lnTo>
                  <a:pt x="300038" y="307181"/>
                </a:lnTo>
                <a:cubicBezTo>
                  <a:pt x="311914" y="307181"/>
                  <a:pt x="321469" y="316736"/>
                  <a:pt x="321469" y="328613"/>
                </a:cubicBezTo>
                <a:cubicBezTo>
                  <a:pt x="321469" y="340489"/>
                  <a:pt x="311914" y="350044"/>
                  <a:pt x="300038" y="350044"/>
                </a:cubicBezTo>
                <a:lnTo>
                  <a:pt x="271463" y="350044"/>
                </a:lnTo>
                <a:cubicBezTo>
                  <a:pt x="259586" y="350044"/>
                  <a:pt x="250031" y="340489"/>
                  <a:pt x="250031" y="328613"/>
                </a:cubicBezTo>
                <a:close/>
                <a:moveTo>
                  <a:pt x="357188" y="328613"/>
                </a:moveTo>
                <a:cubicBezTo>
                  <a:pt x="357188" y="316736"/>
                  <a:pt x="366742" y="307181"/>
                  <a:pt x="378619" y="307181"/>
                </a:cubicBezTo>
                <a:lnTo>
                  <a:pt x="407194" y="307181"/>
                </a:lnTo>
                <a:cubicBezTo>
                  <a:pt x="419070" y="307181"/>
                  <a:pt x="428625" y="316736"/>
                  <a:pt x="428625" y="328613"/>
                </a:cubicBezTo>
                <a:cubicBezTo>
                  <a:pt x="428625" y="340489"/>
                  <a:pt x="419070" y="350044"/>
                  <a:pt x="407194" y="350044"/>
                </a:cubicBezTo>
                <a:lnTo>
                  <a:pt x="378619" y="350044"/>
                </a:lnTo>
                <a:cubicBezTo>
                  <a:pt x="366742" y="350044"/>
                  <a:pt x="357188" y="340489"/>
                  <a:pt x="357188" y="328613"/>
                </a:cubicBezTo>
                <a:close/>
                <a:moveTo>
                  <a:pt x="200025" y="157163"/>
                </a:moveTo>
                <a:cubicBezTo>
                  <a:pt x="223681" y="157163"/>
                  <a:pt x="242888" y="176369"/>
                  <a:pt x="242888" y="200025"/>
                </a:cubicBezTo>
                <a:cubicBezTo>
                  <a:pt x="242888" y="223681"/>
                  <a:pt x="223681" y="242888"/>
                  <a:pt x="200025" y="242888"/>
                </a:cubicBezTo>
                <a:cubicBezTo>
                  <a:pt x="176369" y="242888"/>
                  <a:pt x="157163" y="223681"/>
                  <a:pt x="157163" y="200025"/>
                </a:cubicBezTo>
                <a:cubicBezTo>
                  <a:pt x="157163" y="176369"/>
                  <a:pt x="176369" y="157163"/>
                  <a:pt x="200025" y="157163"/>
                </a:cubicBezTo>
                <a:close/>
                <a:moveTo>
                  <a:pt x="328613" y="200025"/>
                </a:moveTo>
                <a:cubicBezTo>
                  <a:pt x="328613" y="176369"/>
                  <a:pt x="347819" y="157163"/>
                  <a:pt x="371475" y="157163"/>
                </a:cubicBezTo>
                <a:cubicBezTo>
                  <a:pt x="395131" y="157163"/>
                  <a:pt x="414338" y="176369"/>
                  <a:pt x="414338" y="200025"/>
                </a:cubicBezTo>
                <a:cubicBezTo>
                  <a:pt x="414338" y="223681"/>
                  <a:pt x="395131" y="242888"/>
                  <a:pt x="371475" y="242888"/>
                </a:cubicBezTo>
                <a:cubicBezTo>
                  <a:pt x="347819" y="242888"/>
                  <a:pt x="328613" y="223681"/>
                  <a:pt x="328613" y="200025"/>
                </a:cubicBezTo>
                <a:close/>
                <a:moveTo>
                  <a:pt x="57150" y="200025"/>
                </a:moveTo>
                <a:cubicBezTo>
                  <a:pt x="57150" y="184219"/>
                  <a:pt x="44381" y="171450"/>
                  <a:pt x="28575" y="171450"/>
                </a:cubicBezTo>
                <a:cubicBezTo>
                  <a:pt x="12769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2769" y="314325"/>
                  <a:pt x="28575" y="314325"/>
                </a:cubicBezTo>
                <a:cubicBezTo>
                  <a:pt x="44381" y="314325"/>
                  <a:pt x="57150" y="301556"/>
                  <a:pt x="57150" y="285750"/>
                </a:cubicBezTo>
                <a:lnTo>
                  <a:pt x="57150" y="200025"/>
                </a:lnTo>
                <a:close/>
                <a:moveTo>
                  <a:pt x="542925" y="171450"/>
                </a:moveTo>
                <a:cubicBezTo>
                  <a:pt x="527119" y="171450"/>
                  <a:pt x="514350" y="184219"/>
                  <a:pt x="514350" y="200025"/>
                </a:cubicBezTo>
                <a:lnTo>
                  <a:pt x="514350" y="285750"/>
                </a:lnTo>
                <a:cubicBezTo>
                  <a:pt x="514350" y="301556"/>
                  <a:pt x="527119" y="314325"/>
                  <a:pt x="542925" y="314325"/>
                </a:cubicBezTo>
                <a:cubicBezTo>
                  <a:pt x="558731" y="314325"/>
                  <a:pt x="571500" y="301556"/>
                  <a:pt x="571500" y="285750"/>
                </a:cubicBezTo>
                <a:lnTo>
                  <a:pt x="571500" y="200025"/>
                </a:lnTo>
                <a:cubicBezTo>
                  <a:pt x="571500" y="184219"/>
                  <a:pt x="558731" y="171450"/>
                  <a:pt x="542925" y="17145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1079500" y="6159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RPA / Selenium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9500" y="66040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Automacao de coleta e processos repetitivos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08500" y="5207000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4854575" y="5524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4826000" y="6159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BCB API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26000" y="66040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Fonte oficial de cotacoes do Banco Central do Brasil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55000" y="5207000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8515350" y="5524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12450" y="211009"/>
                </a:moveTo>
                <a:lnTo>
                  <a:pt x="253425" y="211009"/>
                </a:lnTo>
                <a:lnTo>
                  <a:pt x="253425" y="157966"/>
                </a:lnTo>
                <a:lnTo>
                  <a:pt x="312450" y="157966"/>
                </a:lnTo>
                <a:lnTo>
                  <a:pt x="312450" y="211009"/>
                </a:lnTo>
                <a:close/>
                <a:moveTo>
                  <a:pt x="312450" y="28575"/>
                </a:moveTo>
                <a:lnTo>
                  <a:pt x="253425" y="28575"/>
                </a:lnTo>
                <a:lnTo>
                  <a:pt x="253425" y="82778"/>
                </a:lnTo>
                <a:lnTo>
                  <a:pt x="312450" y="82778"/>
                </a:lnTo>
                <a:lnTo>
                  <a:pt x="312450" y="28575"/>
                </a:lnTo>
                <a:close/>
                <a:moveTo>
                  <a:pt x="382280" y="157877"/>
                </a:moveTo>
                <a:lnTo>
                  <a:pt x="323255" y="157877"/>
                </a:lnTo>
                <a:lnTo>
                  <a:pt x="323255" y="210919"/>
                </a:lnTo>
                <a:lnTo>
                  <a:pt x="382280" y="210919"/>
                </a:lnTo>
                <a:lnTo>
                  <a:pt x="382280" y="157877"/>
                </a:lnTo>
                <a:close/>
                <a:moveTo>
                  <a:pt x="242709" y="93494"/>
                </a:moveTo>
                <a:lnTo>
                  <a:pt x="183684" y="93494"/>
                </a:lnTo>
                <a:lnTo>
                  <a:pt x="183684" y="147161"/>
                </a:lnTo>
                <a:lnTo>
                  <a:pt x="242709" y="147161"/>
                </a:lnTo>
                <a:lnTo>
                  <a:pt x="242709" y="93494"/>
                </a:lnTo>
                <a:close/>
                <a:moveTo>
                  <a:pt x="312450" y="93494"/>
                </a:moveTo>
                <a:lnTo>
                  <a:pt x="253425" y="93494"/>
                </a:lnTo>
                <a:lnTo>
                  <a:pt x="253425" y="147161"/>
                </a:lnTo>
                <a:lnTo>
                  <a:pt x="312450" y="147161"/>
                </a:lnTo>
                <a:lnTo>
                  <a:pt x="312450" y="93494"/>
                </a:lnTo>
                <a:close/>
                <a:moveTo>
                  <a:pt x="559624" y="182791"/>
                </a:moveTo>
                <a:cubicBezTo>
                  <a:pt x="546765" y="174129"/>
                  <a:pt x="517118" y="171004"/>
                  <a:pt x="494348" y="175290"/>
                </a:cubicBezTo>
                <a:cubicBezTo>
                  <a:pt x="491401" y="153859"/>
                  <a:pt x="479435" y="135195"/>
                  <a:pt x="457646" y="118408"/>
                </a:cubicBezTo>
                <a:lnTo>
                  <a:pt x="445145" y="110103"/>
                </a:lnTo>
                <a:lnTo>
                  <a:pt x="436840" y="122605"/>
                </a:lnTo>
                <a:cubicBezTo>
                  <a:pt x="420410" y="147429"/>
                  <a:pt x="415945" y="188327"/>
                  <a:pt x="433536" y="215295"/>
                </a:cubicBezTo>
                <a:cubicBezTo>
                  <a:pt x="425768" y="219492"/>
                  <a:pt x="410498" y="225207"/>
                  <a:pt x="390317" y="224850"/>
                </a:cubicBezTo>
                <a:lnTo>
                  <a:pt x="2143" y="224850"/>
                </a:lnTo>
                <a:cubicBezTo>
                  <a:pt x="-5626" y="270212"/>
                  <a:pt x="7322" y="329148"/>
                  <a:pt x="41434" y="369600"/>
                </a:cubicBezTo>
                <a:cubicBezTo>
                  <a:pt x="74563" y="408801"/>
                  <a:pt x="124212" y="428714"/>
                  <a:pt x="189131" y="428714"/>
                </a:cubicBezTo>
                <a:cubicBezTo>
                  <a:pt x="329684" y="428714"/>
                  <a:pt x="433715" y="363974"/>
                  <a:pt x="482382" y="246370"/>
                </a:cubicBezTo>
                <a:cubicBezTo>
                  <a:pt x="501491" y="246727"/>
                  <a:pt x="542746" y="246459"/>
                  <a:pt x="563910" y="206008"/>
                </a:cubicBezTo>
                <a:cubicBezTo>
                  <a:pt x="565249" y="203775"/>
                  <a:pt x="569803" y="194221"/>
                  <a:pt x="571500" y="190738"/>
                </a:cubicBezTo>
                <a:lnTo>
                  <a:pt x="559624" y="182791"/>
                </a:lnTo>
                <a:close/>
                <a:moveTo>
                  <a:pt x="103227" y="157877"/>
                </a:moveTo>
                <a:lnTo>
                  <a:pt x="44291" y="157877"/>
                </a:lnTo>
                <a:lnTo>
                  <a:pt x="44291" y="210919"/>
                </a:lnTo>
                <a:lnTo>
                  <a:pt x="103316" y="210919"/>
                </a:lnTo>
                <a:lnTo>
                  <a:pt x="103316" y="157877"/>
                </a:lnTo>
                <a:lnTo>
                  <a:pt x="103227" y="157877"/>
                </a:lnTo>
                <a:close/>
                <a:moveTo>
                  <a:pt x="172968" y="157877"/>
                </a:moveTo>
                <a:lnTo>
                  <a:pt x="113943" y="157877"/>
                </a:lnTo>
                <a:lnTo>
                  <a:pt x="113943" y="210919"/>
                </a:lnTo>
                <a:lnTo>
                  <a:pt x="172968" y="210919"/>
                </a:lnTo>
                <a:lnTo>
                  <a:pt x="172968" y="157877"/>
                </a:lnTo>
                <a:close/>
                <a:moveTo>
                  <a:pt x="242709" y="157877"/>
                </a:moveTo>
                <a:lnTo>
                  <a:pt x="183684" y="157877"/>
                </a:lnTo>
                <a:lnTo>
                  <a:pt x="183684" y="210919"/>
                </a:lnTo>
                <a:lnTo>
                  <a:pt x="242709" y="210919"/>
                </a:lnTo>
                <a:lnTo>
                  <a:pt x="242709" y="157877"/>
                </a:lnTo>
                <a:close/>
                <a:moveTo>
                  <a:pt x="172968" y="93494"/>
                </a:moveTo>
                <a:lnTo>
                  <a:pt x="113943" y="93494"/>
                </a:lnTo>
                <a:lnTo>
                  <a:pt x="113943" y="147161"/>
                </a:lnTo>
                <a:lnTo>
                  <a:pt x="172968" y="147161"/>
                </a:lnTo>
                <a:lnTo>
                  <a:pt x="172968" y="93494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2" name="Text 30"/>
          <p:cNvSpPr/>
          <p:nvPr/>
        </p:nvSpPr>
        <p:spPr>
          <a:xfrm>
            <a:off x="8572500" y="6159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72500" y="66040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Containerizacao e deploy escalavel da aplicacao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001500" y="5207000"/>
            <a:ext cx="34290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35" name="Shape 33"/>
          <p:cNvSpPr/>
          <p:nvPr/>
        </p:nvSpPr>
        <p:spPr>
          <a:xfrm>
            <a:off x="12347575" y="5524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92549" y="210830"/>
                </a:moveTo>
                <a:lnTo>
                  <a:pt x="217884" y="36165"/>
                </a:lnTo>
                <a:cubicBezTo>
                  <a:pt x="213062" y="31254"/>
                  <a:pt x="206454" y="28575"/>
                  <a:pt x="199668" y="28575"/>
                </a:cubicBezTo>
                <a:cubicBezTo>
                  <a:pt x="192881" y="28575"/>
                  <a:pt x="186273" y="31254"/>
                  <a:pt x="181451" y="36076"/>
                </a:cubicBezTo>
                <a:lnTo>
                  <a:pt x="145107" y="72330"/>
                </a:lnTo>
                <a:lnTo>
                  <a:pt x="191095" y="118318"/>
                </a:lnTo>
                <a:cubicBezTo>
                  <a:pt x="215295" y="110192"/>
                  <a:pt x="238155" y="133320"/>
                  <a:pt x="229850" y="157341"/>
                </a:cubicBezTo>
                <a:lnTo>
                  <a:pt x="274231" y="201722"/>
                </a:lnTo>
                <a:cubicBezTo>
                  <a:pt x="304770" y="191185"/>
                  <a:pt x="328880" y="229404"/>
                  <a:pt x="305931" y="252353"/>
                </a:cubicBezTo>
                <a:cubicBezTo>
                  <a:pt x="282267" y="276017"/>
                  <a:pt x="243245" y="249763"/>
                  <a:pt x="255925" y="219045"/>
                </a:cubicBezTo>
                <a:lnTo>
                  <a:pt x="214580" y="177701"/>
                </a:lnTo>
                <a:lnTo>
                  <a:pt x="214580" y="286554"/>
                </a:lnTo>
                <a:cubicBezTo>
                  <a:pt x="237172" y="297716"/>
                  <a:pt x="234494" y="323880"/>
                  <a:pt x="222706" y="335667"/>
                </a:cubicBezTo>
                <a:cubicBezTo>
                  <a:pt x="216991" y="341382"/>
                  <a:pt x="209133" y="344686"/>
                  <a:pt x="201007" y="344686"/>
                </a:cubicBezTo>
                <a:cubicBezTo>
                  <a:pt x="192881" y="344686"/>
                  <a:pt x="185112" y="341471"/>
                  <a:pt x="179308" y="335667"/>
                </a:cubicBezTo>
                <a:cubicBezTo>
                  <a:pt x="163592" y="319951"/>
                  <a:pt x="169396" y="293787"/>
                  <a:pt x="189309" y="285661"/>
                </a:cubicBezTo>
                <a:lnTo>
                  <a:pt x="189309" y="175826"/>
                </a:lnTo>
                <a:cubicBezTo>
                  <a:pt x="170736" y="168235"/>
                  <a:pt x="167342" y="148411"/>
                  <a:pt x="172700" y="135642"/>
                </a:cubicBezTo>
                <a:lnTo>
                  <a:pt x="127337" y="90190"/>
                </a:lnTo>
                <a:lnTo>
                  <a:pt x="7590" y="209937"/>
                </a:lnTo>
                <a:cubicBezTo>
                  <a:pt x="2679" y="214848"/>
                  <a:pt x="0" y="221367"/>
                  <a:pt x="0" y="228154"/>
                </a:cubicBezTo>
                <a:cubicBezTo>
                  <a:pt x="0" y="234940"/>
                  <a:pt x="2679" y="241548"/>
                  <a:pt x="7590" y="246370"/>
                </a:cubicBezTo>
                <a:lnTo>
                  <a:pt x="182255" y="421124"/>
                </a:lnTo>
                <a:cubicBezTo>
                  <a:pt x="187077" y="425946"/>
                  <a:pt x="193596" y="428625"/>
                  <a:pt x="200471" y="428625"/>
                </a:cubicBezTo>
                <a:cubicBezTo>
                  <a:pt x="207347" y="428625"/>
                  <a:pt x="213866" y="425946"/>
                  <a:pt x="218688" y="421124"/>
                </a:cubicBezTo>
                <a:lnTo>
                  <a:pt x="392549" y="247263"/>
                </a:lnTo>
                <a:cubicBezTo>
                  <a:pt x="397371" y="242441"/>
                  <a:pt x="400050" y="235833"/>
                  <a:pt x="400050" y="229046"/>
                </a:cubicBezTo>
                <a:cubicBezTo>
                  <a:pt x="400050" y="222260"/>
                  <a:pt x="397371" y="215652"/>
                  <a:pt x="392549" y="21083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36" name="Text 34"/>
          <p:cNvSpPr/>
          <p:nvPr/>
        </p:nvSpPr>
        <p:spPr>
          <a:xfrm>
            <a:off x="12319000" y="61595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319000" y="6604000"/>
            <a:ext cx="279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Versionamento e controle de codigo do projeto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www.shutterstock.com/image-illustration/financial-market-data-analysis-glowing-600nw-2647062603.jpg">    </p:cNvPr>
          <p:cNvPicPr>
            <a:picLocks noChangeAspect="1"/>
          </p:cNvPicPr>
          <p:nvPr/>
        </p:nvPicPr>
        <p:blipFill>
          <a:blip r:embed="rId1"/>
          <a:srcRect l="2593" r="259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95000"/>
                </a:srgbClr>
              </a:gs>
              <a:gs pos="60000">
                <a:srgbClr val="0F0F1A">
                  <a:alpha val="80000"/>
                </a:srgbClr>
              </a:gs>
              <a:gs pos="100000">
                <a:srgbClr val="0F0F1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2545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200" kern="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DADOS E COLETA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Coleta automatica de 6 moedas estrangeiras contra o Real Brasileiro, atualizacao diaria e historico completo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| A Solucao | </a:t>
            </a:r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Dados e Coleta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Inteligencia Artificial | Cronograma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Dados Coletados - Historico Cambial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5334000"/>
        </p:xfrm>
        <a:graphic>
          <a:graphicData uri="http://schemas.openxmlformats.org/drawingml/2006/table">
            <a:tbl>
              <a:tblPr/>
              <a:tblGrid>
                <a:gridCol w="2651760"/>
                <a:gridCol w="1473200"/>
                <a:gridCol w="1473200"/>
                <a:gridCol w="1473200"/>
                <a:gridCol w="1767840"/>
                <a:gridCol w="1767840"/>
                <a:gridCol w="1767840"/>
                <a:gridCol w="235712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Data/Hora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Origem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Destino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Compra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Venda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 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Fonte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2026-04-15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USD-BRL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5.0490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5.0591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Amostra inicial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2026-04-15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EUR-BRL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EUR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5.4945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5.5055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Amostra inicial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2026-04-15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GBP-BRL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GBP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6.3855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6.3983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-0.5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Amostra inicial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2026-04-20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USD-BRL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5.1000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5.1102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Amostra inicial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2026-04-20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EUR-BRL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EUR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5.5500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5.5611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Amostra inicial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2026-04-24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USD-BRL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5.1408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5.1511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Amostra inicial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2026-04-24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EUR-BRL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EUR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5.5944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5.6056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Amostra inicial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2026-04-24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JPY-BRL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JPY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0.0343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0.0343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Amostra inicial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2026-04-24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GBP-BRL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GBP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6.5016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6.5146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Amostra inicial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7175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pares de moedas coletados diariamente | Periodo: 15/04/2026 a 24/04/2026 (10 dias)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Fonte: Banco Central do Brasil | Total: 60 registros coletados automaticamente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128000"/>
            <a:ext cx="3429000" cy="5715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9" name="Text 6"/>
          <p:cNvSpPr/>
          <p:nvPr/>
        </p:nvSpPr>
        <p:spPr>
          <a:xfrm>
            <a:off x="952500" y="8191500"/>
            <a:ext cx="304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Pares de Moedas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08500" y="8128000"/>
            <a:ext cx="3429000" cy="5715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11" name="Text 8"/>
          <p:cNvSpPr/>
          <p:nvPr/>
        </p:nvSpPr>
        <p:spPr>
          <a:xfrm>
            <a:off x="4699000" y="8191500"/>
            <a:ext cx="304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Dias de Historico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55000" y="8128000"/>
            <a:ext cx="3429000" cy="5715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13" name="Text 10"/>
          <p:cNvSpPr/>
          <p:nvPr/>
        </p:nvSpPr>
        <p:spPr>
          <a:xfrm>
            <a:off x="8445500" y="8191500"/>
            <a:ext cx="304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Registros Totais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001500" y="8128000"/>
            <a:ext cx="3429000" cy="5715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15" name="Text 12"/>
          <p:cNvSpPr/>
          <p:nvPr/>
        </p:nvSpPr>
        <p:spPr>
          <a:xfrm>
            <a:off x="12192000" y="8191500"/>
            <a:ext cx="304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Campos por Registro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| A Solucao | </a:t>
            </a:r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Dados e Coleta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Inteligencia Artificial | Cronograma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Analise Exploratoria - Tendencias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762000" y="1651000"/>
          <a:ext cx="9525000" cy="533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0795000" y="1778000"/>
            <a:ext cx="469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 Principais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795000" y="2286000"/>
            <a:ext cx="762000" cy="25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6"/>
          <p:cNvSpPr/>
          <p:nvPr/>
        </p:nvSpPr>
        <p:spPr>
          <a:xfrm>
            <a:off x="10795000" y="2540000"/>
            <a:ext cx="4699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Tendencia de alta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 todas as moedas vs BRL durante o periodo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USD-BRL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5.049 → 5.140 (+1.8%)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EUR-BRL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5.494 → 5.594 (+1.8%)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GBP-BRL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6.385 → 6.501 (+1.8%)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Variacao diaria: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-0.5% a +0.4%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Spread compra/venda: ~0.2%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| A Solucao | </a:t>
            </a:r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Dados e Coleta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Inteligencia Artificial | Cronograma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Estrutura do Projeto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0" descr="https://kimi-img.moonshot.cn/pub/slides/okc/d3bb2g446kv4e/mnt/agents/upload/image.png">    </p:cNvPr>
          <p:cNvPicPr>
            <a:picLocks noChangeAspect="1"/>
          </p:cNvPicPr>
          <p:nvPr/>
        </p:nvPicPr>
        <p:blipFill>
          <a:blip r:embed="rId1"/>
          <a:srcRect l="23247" r="23247" t="0" b="0"/>
          <a:stretch/>
        </p:blipFill>
        <p:spPr>
          <a:xfrm>
            <a:off x="762000" y="1651000"/>
            <a:ext cx="6604000" cy="5080000"/>
          </a:xfrm>
          <a:prstGeom prst="roundRect">
            <a:avLst>
              <a:gd name="adj" fmla="val 6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762000" y="6858000"/>
            <a:ext cx="660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Estrutura de pastas do projeto no VS Code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74000" y="177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Organizacao do Codigo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874000" y="2286000"/>
            <a:ext cx="762000" cy="25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7"/>
          <p:cNvSpPr/>
          <p:nvPr/>
        </p:nvSpPr>
        <p:spPr>
          <a:xfrm>
            <a:off x="7874000" y="2540000"/>
            <a:ext cx="7620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backend/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API FastAPI e logica de negocio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data/exports/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CSV e Excel gerados (historico_cotacoes)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data/processed/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Dados tratados e normalizados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data/raw/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Dados brutos da coleta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docs/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Documentacao (cronograma, pitch, proposta)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frontend/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Dashboard Streamlit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scripts/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Automacao e utilitarios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docker-compose.yml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Orquestracao de containers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Dockerfile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Imagem da aplicacao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.gitignore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Controle de versionamento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g.freepik.com/premium-photo/abstract-glowing-forex-graph-dark-background-with-candlestick-invest-trade-broker-concept-3d-rendering_670147-36518.jp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95000"/>
                </a:srgbClr>
              </a:gs>
              <a:gs pos="60000">
                <a:srgbClr val="0F0F1A">
                  <a:alpha val="80000"/>
                </a:srgbClr>
              </a:gs>
              <a:gs pos="100000">
                <a:srgbClr val="0F0F1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254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200" kern="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para predicao de tendencias e risco cambial, alertas inteligentes em tempo real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| A Solucao | Dados e Coleta | </a:t>
            </a:r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Artificial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Cronograma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 Learning e Risco Cambial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78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2095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Series Temporais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6670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ARIMA e LSTM para analise de sequencias historicas de cotacoes e predicao de tendencias futuras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778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6731000" y="2095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at Risk (VaR)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26670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Calculo de risco cambial com niveis de confianca estatisticos para suporte a decisoes de hedge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778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12500" y="209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92869" y="192881"/>
                </a:moveTo>
                <a:lnTo>
                  <a:pt x="92869" y="250031"/>
                </a:lnTo>
                <a:cubicBezTo>
                  <a:pt x="92869" y="261908"/>
                  <a:pt x="102424" y="271463"/>
                  <a:pt x="114300" y="271463"/>
                </a:cubicBezTo>
                <a:cubicBezTo>
                  <a:pt x="126176" y="271463"/>
                  <a:pt x="135731" y="261908"/>
                  <a:pt x="135731" y="250031"/>
                </a:cubicBezTo>
                <a:lnTo>
                  <a:pt x="135731" y="192881"/>
                </a:lnTo>
                <a:cubicBezTo>
                  <a:pt x="135731" y="181005"/>
                  <a:pt x="126176" y="171450"/>
                  <a:pt x="114300" y="171450"/>
                </a:cubicBezTo>
                <a:cubicBezTo>
                  <a:pt x="102424" y="171450"/>
                  <a:pt x="92869" y="181005"/>
                  <a:pt x="92869" y="192881"/>
                </a:cubicBezTo>
                <a:close/>
                <a:moveTo>
                  <a:pt x="164306" y="107156"/>
                </a:moveTo>
                <a:lnTo>
                  <a:pt x="164306" y="250031"/>
                </a:lnTo>
                <a:cubicBezTo>
                  <a:pt x="164306" y="261908"/>
                  <a:pt x="173861" y="271463"/>
                  <a:pt x="185738" y="271463"/>
                </a:cubicBezTo>
                <a:cubicBezTo>
                  <a:pt x="197614" y="271463"/>
                  <a:pt x="207169" y="261908"/>
                  <a:pt x="207169" y="250031"/>
                </a:cubicBezTo>
                <a:lnTo>
                  <a:pt x="207169" y="107156"/>
                </a:lnTo>
                <a:cubicBezTo>
                  <a:pt x="207169" y="95280"/>
                  <a:pt x="197614" y="85725"/>
                  <a:pt x="185738" y="85725"/>
                </a:cubicBezTo>
                <a:cubicBezTo>
                  <a:pt x="173861" y="85725"/>
                  <a:pt x="164306" y="95280"/>
                  <a:pt x="164306" y="107156"/>
                </a:cubicBezTo>
                <a:close/>
                <a:moveTo>
                  <a:pt x="235744" y="164306"/>
                </a:moveTo>
                <a:lnTo>
                  <a:pt x="235744" y="250031"/>
                </a:lnTo>
                <a:cubicBezTo>
                  <a:pt x="235744" y="261908"/>
                  <a:pt x="245299" y="271463"/>
                  <a:pt x="257175" y="271463"/>
                </a:cubicBezTo>
                <a:cubicBezTo>
                  <a:pt x="269051" y="271463"/>
                  <a:pt x="278606" y="261908"/>
                  <a:pt x="278606" y="250031"/>
                </a:cubicBezTo>
                <a:lnTo>
                  <a:pt x="278606" y="164306"/>
                </a:lnTo>
                <a:cubicBezTo>
                  <a:pt x="278606" y="152430"/>
                  <a:pt x="269051" y="142875"/>
                  <a:pt x="257175" y="142875"/>
                </a:cubicBezTo>
                <a:cubicBezTo>
                  <a:pt x="245299" y="142875"/>
                  <a:pt x="235744" y="152430"/>
                  <a:pt x="235744" y="16430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11747500" y="2095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Anomalias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12500" y="26670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Deteccao automatica de padroes atipicos e variacoes anomalas em series de cotacoes cambiais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207000"/>
            <a:ext cx="70485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0925" y="5524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42875"/>
                </a:moveTo>
                <a:cubicBezTo>
                  <a:pt x="327094" y="142875"/>
                  <a:pt x="314325" y="130106"/>
                  <a:pt x="314325" y="114300"/>
                </a:cubicBezTo>
                <a:cubicBezTo>
                  <a:pt x="314325" y="98494"/>
                  <a:pt x="327094" y="85725"/>
                  <a:pt x="342900" y="85725"/>
                </a:cubicBezTo>
                <a:lnTo>
                  <a:pt x="485775" y="85725"/>
                </a:lnTo>
                <a:cubicBezTo>
                  <a:pt x="501581" y="85725"/>
                  <a:pt x="514350" y="98494"/>
                  <a:pt x="514350" y="114300"/>
                </a:cubicBezTo>
                <a:lnTo>
                  <a:pt x="514350" y="257175"/>
                </a:lnTo>
                <a:cubicBezTo>
                  <a:pt x="514350" y="272981"/>
                  <a:pt x="501581" y="285750"/>
                  <a:pt x="485775" y="285750"/>
                </a:cubicBezTo>
                <a:cubicBezTo>
                  <a:pt x="469969" y="285750"/>
                  <a:pt x="457200" y="272981"/>
                  <a:pt x="457200" y="257175"/>
                </a:cubicBezTo>
                <a:lnTo>
                  <a:pt x="457200" y="183326"/>
                </a:lnTo>
                <a:lnTo>
                  <a:pt x="305931" y="334595"/>
                </a:lnTo>
                <a:cubicBezTo>
                  <a:pt x="294769" y="345758"/>
                  <a:pt x="276642" y="345758"/>
                  <a:pt x="265480" y="334595"/>
                </a:cubicBezTo>
                <a:lnTo>
                  <a:pt x="171450" y="240476"/>
                </a:lnTo>
                <a:lnTo>
                  <a:pt x="48756" y="363081"/>
                </a:lnTo>
                <a:cubicBezTo>
                  <a:pt x="37594" y="374243"/>
                  <a:pt x="19467" y="374243"/>
                  <a:pt x="8305" y="363081"/>
                </a:cubicBezTo>
                <a:cubicBezTo>
                  <a:pt x="-2857" y="351919"/>
                  <a:pt x="-2857" y="333792"/>
                  <a:pt x="8305" y="322630"/>
                </a:cubicBezTo>
                <a:lnTo>
                  <a:pt x="151180" y="179755"/>
                </a:lnTo>
                <a:cubicBezTo>
                  <a:pt x="162342" y="168593"/>
                  <a:pt x="180469" y="168593"/>
                  <a:pt x="191631" y="179755"/>
                </a:cubicBezTo>
                <a:lnTo>
                  <a:pt x="285750" y="273874"/>
                </a:lnTo>
                <a:lnTo>
                  <a:pt x="416749" y="142875"/>
                </a:lnTo>
                <a:lnTo>
                  <a:pt x="342900" y="142875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1714500" y="5524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Previsao 7-30 Dias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9500" y="60960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preditivos de curto prazo para antecipar movimentos de mercado e otimizar timing de operacoes de cambio e importacao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91500" y="5207000"/>
            <a:ext cx="7048500" cy="3048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90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2769" y="57150"/>
                  <a:pt x="0" y="69919"/>
                  <a:pt x="0" y="85725"/>
                </a:cubicBezTo>
                <a:cubicBezTo>
                  <a:pt x="0" y="101531"/>
                  <a:pt x="12769" y="114300"/>
                  <a:pt x="28575" y="114300"/>
                </a:cubicBezTo>
                <a:lnTo>
                  <a:pt x="105995" y="114300"/>
                </a:lnTo>
                <a:cubicBezTo>
                  <a:pt x="116979" y="139571"/>
                  <a:pt x="142161" y="157163"/>
                  <a:pt x="171450" y="157163"/>
                </a:cubicBezTo>
                <a:cubicBezTo>
                  <a:pt x="200739" y="157163"/>
                  <a:pt x="225921" y="139571"/>
                  <a:pt x="236905" y="114300"/>
                </a:cubicBezTo>
                <a:lnTo>
                  <a:pt x="428625" y="114300"/>
                </a:lnTo>
                <a:cubicBezTo>
                  <a:pt x="444431" y="114300"/>
                  <a:pt x="457200" y="101531"/>
                  <a:pt x="457200" y="85725"/>
                </a:cubicBezTo>
                <a:cubicBezTo>
                  <a:pt x="457200" y="69919"/>
                  <a:pt x="444431" y="57150"/>
                  <a:pt x="428625" y="57150"/>
                </a:cubicBezTo>
                <a:lnTo>
                  <a:pt x="236905" y="57150"/>
                </a:lnTo>
                <a:cubicBezTo>
                  <a:pt x="225921" y="31879"/>
                  <a:pt x="200739" y="14288"/>
                  <a:pt x="171450" y="14288"/>
                </a:cubicBezTo>
                <a:cubicBezTo>
                  <a:pt x="142161" y="14288"/>
                  <a:pt x="116979" y="31879"/>
                  <a:pt x="105995" y="57150"/>
                </a:cubicBezTo>
                <a:lnTo>
                  <a:pt x="28575" y="57150"/>
                </a:lnTo>
                <a:close/>
                <a:moveTo>
                  <a:pt x="28575" y="200025"/>
                </a:move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248870" y="257175"/>
                </a:lnTo>
                <a:cubicBezTo>
                  <a:pt x="259854" y="282446"/>
                  <a:pt x="285036" y="300038"/>
                  <a:pt x="314325" y="300038"/>
                </a:cubicBezTo>
                <a:cubicBezTo>
                  <a:pt x="343614" y="300038"/>
                  <a:pt x="368796" y="282446"/>
                  <a:pt x="379780" y="257175"/>
                </a:cubicBez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379780" y="200025"/>
                </a:lnTo>
                <a:cubicBezTo>
                  <a:pt x="368796" y="174754"/>
                  <a:pt x="343614" y="157163"/>
                  <a:pt x="314325" y="157163"/>
                </a:cubicBezTo>
                <a:cubicBezTo>
                  <a:pt x="285036" y="157163"/>
                  <a:pt x="259854" y="174754"/>
                  <a:pt x="248870" y="200025"/>
                </a:cubicBezTo>
                <a:lnTo>
                  <a:pt x="28575" y="200025"/>
                </a:lnTo>
                <a:close/>
                <a:moveTo>
                  <a:pt x="28575" y="342900"/>
                </a:moveTo>
                <a:cubicBezTo>
                  <a:pt x="12769" y="342900"/>
                  <a:pt x="0" y="355669"/>
                  <a:pt x="0" y="371475"/>
                </a:cubicBezTo>
                <a:cubicBezTo>
                  <a:pt x="0" y="387281"/>
                  <a:pt x="12769" y="400050"/>
                  <a:pt x="28575" y="400050"/>
                </a:cubicBezTo>
                <a:lnTo>
                  <a:pt x="77420" y="400050"/>
                </a:lnTo>
                <a:cubicBezTo>
                  <a:pt x="88404" y="425321"/>
                  <a:pt x="113586" y="442913"/>
                  <a:pt x="142875" y="442913"/>
                </a:cubicBezTo>
                <a:cubicBezTo>
                  <a:pt x="172164" y="442913"/>
                  <a:pt x="197346" y="425321"/>
                  <a:pt x="208330" y="400050"/>
                </a:cubicBez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ubicBezTo>
                  <a:pt x="457200" y="355669"/>
                  <a:pt x="444431" y="342900"/>
                  <a:pt x="428625" y="342900"/>
                </a:cubicBezTo>
                <a:lnTo>
                  <a:pt x="208330" y="342900"/>
                </a:lnTo>
                <a:cubicBezTo>
                  <a:pt x="197346" y="317629"/>
                  <a:pt x="172164" y="300038"/>
                  <a:pt x="142875" y="300038"/>
                </a:cubicBezTo>
                <a:cubicBezTo>
                  <a:pt x="113586" y="300038"/>
                  <a:pt x="88404" y="317629"/>
                  <a:pt x="77420" y="342900"/>
                </a:cubicBezTo>
                <a:lnTo>
                  <a:pt x="28575" y="34290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5524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Indicadores Tecnicos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60960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 movel, RSI (Indice de Forca Relativa) e Bandas de Bollinger para analise tecnica completa do mercado cambial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255000"/>
            <a:ext cx="14732000" cy="381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82550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Resultado: Decisoes baseadas em dados, nao em intuicao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| A Solucao | Dados e Coleta | </a:t>
            </a:r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Artificial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Cronograma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Alertas Inteligentes - Gmail e Telegram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78000"/>
            <a:ext cx="7048500" cy="3302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625" y="63500"/>
                </a:moveTo>
                <a:cubicBezTo>
                  <a:pt x="21332" y="63500"/>
                  <a:pt x="0" y="84832"/>
                  <a:pt x="0" y="111125"/>
                </a:cubicBezTo>
                <a:cubicBezTo>
                  <a:pt x="0" y="126107"/>
                  <a:pt x="7045" y="140196"/>
                  <a:pt x="19050" y="149225"/>
                </a:cubicBezTo>
                <a:lnTo>
                  <a:pt x="225425" y="304006"/>
                </a:lnTo>
                <a:cubicBezTo>
                  <a:pt x="242391" y="316706"/>
                  <a:pt x="265609" y="316706"/>
                  <a:pt x="282575" y="304006"/>
                </a:cubicBezTo>
                <a:lnTo>
                  <a:pt x="488950" y="149225"/>
                </a:lnTo>
                <a:cubicBezTo>
                  <a:pt x="500955" y="140196"/>
                  <a:pt x="508000" y="126107"/>
                  <a:pt x="508000" y="111125"/>
                </a:cubicBezTo>
                <a:cubicBezTo>
                  <a:pt x="508000" y="84832"/>
                  <a:pt x="486668" y="63500"/>
                  <a:pt x="460375" y="63500"/>
                </a:cubicBezTo>
                <a:lnTo>
                  <a:pt x="47625" y="63500"/>
                </a:lnTo>
                <a:close/>
                <a:moveTo>
                  <a:pt x="0" y="194469"/>
                </a:move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444500" y="444500"/>
                </a:lnTo>
                <a:cubicBezTo>
                  <a:pt x="479524" y="444500"/>
                  <a:pt x="508000" y="416024"/>
                  <a:pt x="508000" y="381000"/>
                </a:cubicBezTo>
                <a:lnTo>
                  <a:pt x="508000" y="194469"/>
                </a:lnTo>
                <a:lnTo>
                  <a:pt x="311150" y="342106"/>
                </a:lnTo>
                <a:cubicBezTo>
                  <a:pt x="277316" y="367506"/>
                  <a:pt x="230684" y="367506"/>
                  <a:pt x="196850" y="342106"/>
                </a:cubicBezTo>
                <a:lnTo>
                  <a:pt x="0" y="194469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1841500" y="215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Gmail 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794000"/>
            <a:ext cx="6286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Alertas de variacao significativa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Resumo diario automatico por e-mail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Notificacoes de risco baseadas em ML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6B6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Relatorios executivos semanais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91500" y="1778000"/>
            <a:ext cx="7048500" cy="3302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85725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7938"/>
                </a:moveTo>
                <a:cubicBezTo>
                  <a:pt x="118194" y="7938"/>
                  <a:pt x="7938" y="118194"/>
                  <a:pt x="7938" y="254000"/>
                </a:cubicBezTo>
                <a:cubicBezTo>
                  <a:pt x="7938" y="389806"/>
                  <a:pt x="118194" y="500063"/>
                  <a:pt x="254000" y="500063"/>
                </a:cubicBezTo>
                <a:cubicBezTo>
                  <a:pt x="389806" y="500063"/>
                  <a:pt x="500062" y="389806"/>
                  <a:pt x="500063" y="254000"/>
                </a:cubicBezTo>
                <a:cubicBezTo>
                  <a:pt x="500063" y="118194"/>
                  <a:pt x="389806" y="7938"/>
                  <a:pt x="254000" y="7938"/>
                </a:cubicBezTo>
                <a:close/>
                <a:moveTo>
                  <a:pt x="368102" y="175320"/>
                </a:moveTo>
                <a:cubicBezTo>
                  <a:pt x="364430" y="214213"/>
                  <a:pt x="348357" y="308670"/>
                  <a:pt x="340221" y="352227"/>
                </a:cubicBezTo>
                <a:cubicBezTo>
                  <a:pt x="336748" y="370681"/>
                  <a:pt x="330002" y="376833"/>
                  <a:pt x="323453" y="377428"/>
                </a:cubicBezTo>
                <a:cubicBezTo>
                  <a:pt x="309166" y="378718"/>
                  <a:pt x="298351" y="368002"/>
                  <a:pt x="284460" y="358874"/>
                </a:cubicBezTo>
                <a:cubicBezTo>
                  <a:pt x="262830" y="344686"/>
                  <a:pt x="250527" y="335855"/>
                  <a:pt x="229592" y="321965"/>
                </a:cubicBezTo>
                <a:cubicBezTo>
                  <a:pt x="205284" y="305991"/>
                  <a:pt x="221059" y="297160"/>
                  <a:pt x="234851" y="282773"/>
                </a:cubicBezTo>
                <a:cubicBezTo>
                  <a:pt x="238522" y="279003"/>
                  <a:pt x="301427" y="221754"/>
                  <a:pt x="302617" y="216595"/>
                </a:cubicBezTo>
                <a:cubicBezTo>
                  <a:pt x="302816" y="215900"/>
                  <a:pt x="302915" y="213519"/>
                  <a:pt x="301427" y="212229"/>
                </a:cubicBezTo>
                <a:cubicBezTo>
                  <a:pt x="299938" y="210939"/>
                  <a:pt x="297855" y="211435"/>
                  <a:pt x="296366" y="211733"/>
                </a:cubicBezTo>
                <a:cubicBezTo>
                  <a:pt x="294184" y="212229"/>
                  <a:pt x="259556" y="235049"/>
                  <a:pt x="192584" y="280293"/>
                </a:cubicBezTo>
                <a:cubicBezTo>
                  <a:pt x="182761" y="287040"/>
                  <a:pt x="173831" y="290314"/>
                  <a:pt x="165894" y="290116"/>
                </a:cubicBezTo>
                <a:cubicBezTo>
                  <a:pt x="157063" y="289917"/>
                  <a:pt x="140196" y="285155"/>
                  <a:pt x="127595" y="281087"/>
                </a:cubicBezTo>
                <a:cubicBezTo>
                  <a:pt x="112216" y="276126"/>
                  <a:pt x="99913" y="273447"/>
                  <a:pt x="101005" y="264914"/>
                </a:cubicBezTo>
                <a:cubicBezTo>
                  <a:pt x="101600" y="260449"/>
                  <a:pt x="107652" y="255984"/>
                  <a:pt x="119261" y="251321"/>
                </a:cubicBezTo>
                <a:cubicBezTo>
                  <a:pt x="190996" y="220067"/>
                  <a:pt x="238820" y="199430"/>
                  <a:pt x="262731" y="189508"/>
                </a:cubicBezTo>
                <a:cubicBezTo>
                  <a:pt x="331093" y="161131"/>
                  <a:pt x="345281" y="156170"/>
                  <a:pt x="354509" y="155972"/>
                </a:cubicBezTo>
                <a:cubicBezTo>
                  <a:pt x="356592" y="155972"/>
                  <a:pt x="361057" y="156468"/>
                  <a:pt x="364034" y="158849"/>
                </a:cubicBezTo>
                <a:cubicBezTo>
                  <a:pt x="366018" y="160536"/>
                  <a:pt x="367209" y="162917"/>
                  <a:pt x="367506" y="165497"/>
                </a:cubicBezTo>
                <a:cubicBezTo>
                  <a:pt x="368002" y="168672"/>
                  <a:pt x="368102" y="171946"/>
                  <a:pt x="367903" y="175220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9271000" y="215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Telegram Bot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72500" y="2794000"/>
            <a:ext cx="62865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Consulta instantanea de cotacoes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Alertas push em tempo real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Comandos interativos (/cotacao)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Notificacoes de eventos de mercado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39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Fluxo de Alertas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905500"/>
            <a:ext cx="762000" cy="25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Shape 14"/>
          <p:cNvSpPr/>
          <p:nvPr/>
        </p:nvSpPr>
        <p:spPr>
          <a:xfrm>
            <a:off x="762000" y="6223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" y="6350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Coleta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Dados BCB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29000" y="6667500"/>
            <a:ext cx="508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064000" y="6223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4191000" y="6350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Analise ML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Predicao e risco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31000" y="6667500"/>
            <a:ext cx="508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366000" y="6223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7493000" y="6350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Threshold atingido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33000" y="6667500"/>
            <a:ext cx="508000" cy="0"/>
          </a:xfrm>
          <a:prstGeom prst="straightConnector1">
            <a:avLst/>
          </a:prstGeom>
          <a:noFill/>
          <a:ln w="25400">
            <a:solidFill>
              <a:srgbClr val="D4AF37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0668000" y="6223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10795000" y="6350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Envio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Gmail + Telegram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7620000"/>
            <a:ext cx="14732000" cy="6350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76835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Configuravel: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Thresholds de variacao | Horarios de resumo | Canais de notificacao | Moedas monitoradas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www.shutterstock.com/image-vector/global-financial-network-digital-currency-260nw-2608548823.jpg">    </p:cNvPr>
          <p:cNvPicPr>
            <a:picLocks noChangeAspect="1"/>
          </p:cNvPicPr>
          <p:nvPr/>
        </p:nvPicPr>
        <p:blipFill>
          <a:blip r:embed="rId1"/>
          <a:srcRect l="0" r="0" t="3895" b="389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95000"/>
                </a:srgbClr>
              </a:gs>
              <a:gs pos="60000">
                <a:srgbClr val="0F0F1A">
                  <a:alpha val="80000"/>
                </a:srgbClr>
              </a:gs>
              <a:gs pos="100000">
                <a:srgbClr val="0F0F1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AF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3937000"/>
            <a:ext cx="1270000" cy="50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2545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spc="200" kern="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CRONOGRAMA E RESULTADOS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semanas de desenvolvimento com entregas incrementais e validacao piloto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| A Solucao | Dados e Coleta | Inteligencia Artificial | </a:t>
            </a:r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Cronograma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Cronograma de Entregas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6096000"/>
        </p:xfrm>
        <a:graphic>
          <a:graphicData uri="http://schemas.openxmlformats.org/drawingml/2006/table">
            <a:tbl>
              <a:tblPr/>
              <a:tblGrid>
                <a:gridCol w="1178560"/>
                <a:gridCol w="7660640"/>
                <a:gridCol w="5892800"/>
              </a:tblGrid>
              <a:tr h="48461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Entrega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Status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701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Setup, backend FastAPI e coleta de cotacoes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ECDC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 Concluido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701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Historico Excel/CSV e relatorios executivos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ECDC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 Concluido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701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Dashboard web Streamlit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ECDC4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 Concluido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701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Predicao com ML e risco cambial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AF37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 Em andamento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701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Alertas Gmail/Telegram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0809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 Pendente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701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Validacao piloto com setor de compras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0809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 Pendente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701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Ajustes de seguranca, documentacao e proposta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0809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 Pendente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7014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8E8E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Demonstracao final para cliente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0809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● Pendente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7937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Concluido 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 andamento 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>
              <a:lnSpc>
                <a:spcPct val="100000"/>
              </a:lnSpc>
            </a:pPr>
            <a:r>
              <a:rPr lang="en-US" sz="13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Pendente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Contexto | A Solucao | Dados e Coleta | Inteligencia Artificial | </a:t>
            </a:r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Cronograma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E8E8E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Entregaveis e Resultados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016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77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1054100" y="2032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203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RESTful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540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FastAPI documentado com Swagger/OpenAPI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77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6070600" y="2032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0"/>
                </a:moveTo>
                <a:cubicBezTo>
                  <a:pt x="48181" y="0"/>
                  <a:pt x="25400" y="22781"/>
                  <a:pt x="25400" y="50800"/>
                </a:cubicBezTo>
                <a:lnTo>
                  <a:pt x="25400" y="355600"/>
                </a:lnTo>
                <a:cubicBezTo>
                  <a:pt x="25400" y="383619"/>
                  <a:pt x="48181" y="406400"/>
                  <a:pt x="76200" y="406400"/>
                </a:cubicBezTo>
                <a:lnTo>
                  <a:pt x="139700" y="406400"/>
                </a:lnTo>
                <a:lnTo>
                  <a:pt x="139700" y="317500"/>
                </a:lnTo>
                <a:cubicBezTo>
                  <a:pt x="139700" y="289481"/>
                  <a:pt x="162481" y="266700"/>
                  <a:pt x="190500" y="266700"/>
                </a:cubicBezTo>
                <a:lnTo>
                  <a:pt x="330200" y="266700"/>
                </a:lnTo>
                <a:lnTo>
                  <a:pt x="330200" y="135334"/>
                </a:lnTo>
                <a:cubicBezTo>
                  <a:pt x="330200" y="121841"/>
                  <a:pt x="324882" y="108903"/>
                  <a:pt x="315357" y="99378"/>
                </a:cubicBezTo>
                <a:lnTo>
                  <a:pt x="230743" y="14843"/>
                </a:lnTo>
                <a:cubicBezTo>
                  <a:pt x="221218" y="5318"/>
                  <a:pt x="208359" y="0"/>
                  <a:pt x="194866" y="0"/>
                </a:cubicBezTo>
                <a:lnTo>
                  <a:pt x="76200" y="0"/>
                </a:lnTo>
                <a:close/>
                <a:moveTo>
                  <a:pt x="283766" y="139700"/>
                </a:moveTo>
                <a:lnTo>
                  <a:pt x="209550" y="139700"/>
                </a:lnTo>
                <a:cubicBezTo>
                  <a:pt x="198993" y="139700"/>
                  <a:pt x="190500" y="131207"/>
                  <a:pt x="190500" y="120650"/>
                </a:cubicBezTo>
                <a:lnTo>
                  <a:pt x="190500" y="46434"/>
                </a:lnTo>
                <a:lnTo>
                  <a:pt x="283766" y="139700"/>
                </a:lnTo>
                <a:close/>
                <a:moveTo>
                  <a:pt x="209550" y="301625"/>
                </a:moveTo>
                <a:cubicBezTo>
                  <a:pt x="190262" y="301625"/>
                  <a:pt x="174625" y="317262"/>
                  <a:pt x="174625" y="336550"/>
                </a:cubicBezTo>
                <a:lnTo>
                  <a:pt x="174625" y="400050"/>
                </a:lnTo>
                <a:cubicBezTo>
                  <a:pt x="174625" y="419338"/>
                  <a:pt x="190262" y="434975"/>
                  <a:pt x="209550" y="434975"/>
                </a:cubicBezTo>
                <a:lnTo>
                  <a:pt x="222250" y="434975"/>
                </a:lnTo>
                <a:cubicBezTo>
                  <a:pt x="241538" y="434975"/>
                  <a:pt x="257175" y="419338"/>
                  <a:pt x="257175" y="400050"/>
                </a:cubicBezTo>
                <a:lnTo>
                  <a:pt x="257175" y="393700"/>
                </a:lnTo>
                <a:cubicBezTo>
                  <a:pt x="257175" y="384969"/>
                  <a:pt x="250031" y="377825"/>
                  <a:pt x="241300" y="377825"/>
                </a:cubicBezTo>
                <a:cubicBezTo>
                  <a:pt x="232569" y="377825"/>
                  <a:pt x="225425" y="384969"/>
                  <a:pt x="225425" y="393700"/>
                </a:cubicBezTo>
                <a:lnTo>
                  <a:pt x="225425" y="400050"/>
                </a:lnTo>
                <a:cubicBezTo>
                  <a:pt x="225425" y="401796"/>
                  <a:pt x="223996" y="403225"/>
                  <a:pt x="222250" y="403225"/>
                </a:cubicBezTo>
                <a:lnTo>
                  <a:pt x="209550" y="403225"/>
                </a:lnTo>
                <a:cubicBezTo>
                  <a:pt x="207804" y="403225"/>
                  <a:pt x="206375" y="401796"/>
                  <a:pt x="206375" y="400050"/>
                </a:cubicBezTo>
                <a:lnTo>
                  <a:pt x="206375" y="336550"/>
                </a:lnTo>
                <a:cubicBezTo>
                  <a:pt x="206375" y="334804"/>
                  <a:pt x="207804" y="333375"/>
                  <a:pt x="209550" y="333375"/>
                </a:cubicBezTo>
                <a:lnTo>
                  <a:pt x="222250" y="333375"/>
                </a:lnTo>
                <a:cubicBezTo>
                  <a:pt x="223996" y="333375"/>
                  <a:pt x="225425" y="334804"/>
                  <a:pt x="225425" y="336550"/>
                </a:cubicBezTo>
                <a:lnTo>
                  <a:pt x="225425" y="342900"/>
                </a:lnTo>
                <a:cubicBezTo>
                  <a:pt x="225425" y="351631"/>
                  <a:pt x="232569" y="358775"/>
                  <a:pt x="241300" y="358775"/>
                </a:cubicBezTo>
                <a:cubicBezTo>
                  <a:pt x="250031" y="358775"/>
                  <a:pt x="257175" y="351631"/>
                  <a:pt x="257175" y="342900"/>
                </a:cubicBezTo>
                <a:lnTo>
                  <a:pt x="257175" y="336550"/>
                </a:lnTo>
                <a:cubicBezTo>
                  <a:pt x="257175" y="317262"/>
                  <a:pt x="241538" y="301625"/>
                  <a:pt x="222250" y="301625"/>
                </a:cubicBezTo>
                <a:lnTo>
                  <a:pt x="209550" y="301625"/>
                </a:lnTo>
                <a:close/>
                <a:moveTo>
                  <a:pt x="317500" y="301625"/>
                </a:moveTo>
                <a:cubicBezTo>
                  <a:pt x="294719" y="301625"/>
                  <a:pt x="276225" y="320119"/>
                  <a:pt x="276225" y="342900"/>
                </a:cubicBezTo>
                <a:cubicBezTo>
                  <a:pt x="276225" y="365681"/>
                  <a:pt x="294719" y="384175"/>
                  <a:pt x="317500" y="384175"/>
                </a:cubicBezTo>
                <a:cubicBezTo>
                  <a:pt x="322739" y="384175"/>
                  <a:pt x="327025" y="388461"/>
                  <a:pt x="327025" y="393700"/>
                </a:cubicBezTo>
                <a:cubicBezTo>
                  <a:pt x="327025" y="398939"/>
                  <a:pt x="322739" y="403225"/>
                  <a:pt x="317500" y="403225"/>
                </a:cubicBezTo>
                <a:lnTo>
                  <a:pt x="292100" y="403225"/>
                </a:lnTo>
                <a:cubicBezTo>
                  <a:pt x="283369" y="403225"/>
                  <a:pt x="276225" y="410369"/>
                  <a:pt x="276225" y="419100"/>
                </a:cubicBezTo>
                <a:cubicBezTo>
                  <a:pt x="276225" y="427831"/>
                  <a:pt x="283369" y="434975"/>
                  <a:pt x="292100" y="434975"/>
                </a:cubicBezTo>
                <a:lnTo>
                  <a:pt x="317500" y="434975"/>
                </a:lnTo>
                <a:cubicBezTo>
                  <a:pt x="340281" y="434975"/>
                  <a:pt x="358775" y="416481"/>
                  <a:pt x="358775" y="393700"/>
                </a:cubicBezTo>
                <a:cubicBezTo>
                  <a:pt x="358775" y="370919"/>
                  <a:pt x="340281" y="352425"/>
                  <a:pt x="317500" y="352425"/>
                </a:cubicBezTo>
                <a:cubicBezTo>
                  <a:pt x="312261" y="352425"/>
                  <a:pt x="307975" y="348139"/>
                  <a:pt x="307975" y="342900"/>
                </a:cubicBezTo>
                <a:cubicBezTo>
                  <a:pt x="307975" y="337661"/>
                  <a:pt x="312261" y="333375"/>
                  <a:pt x="317500" y="333375"/>
                </a:cubicBezTo>
                <a:lnTo>
                  <a:pt x="336550" y="333375"/>
                </a:lnTo>
                <a:cubicBezTo>
                  <a:pt x="345281" y="333375"/>
                  <a:pt x="352425" y="326231"/>
                  <a:pt x="352425" y="317500"/>
                </a:cubicBezTo>
                <a:cubicBezTo>
                  <a:pt x="352425" y="308769"/>
                  <a:pt x="345281" y="301625"/>
                  <a:pt x="336550" y="301625"/>
                </a:cubicBezTo>
                <a:lnTo>
                  <a:pt x="317500" y="301625"/>
                </a:lnTo>
                <a:close/>
                <a:moveTo>
                  <a:pt x="393700" y="301625"/>
                </a:moveTo>
                <a:cubicBezTo>
                  <a:pt x="384969" y="301625"/>
                  <a:pt x="377825" y="308769"/>
                  <a:pt x="377825" y="317500"/>
                </a:cubicBezTo>
                <a:lnTo>
                  <a:pt x="377825" y="342583"/>
                </a:lnTo>
                <a:cubicBezTo>
                  <a:pt x="377825" y="370761"/>
                  <a:pt x="386159" y="398383"/>
                  <a:pt x="401796" y="421799"/>
                </a:cubicBezTo>
                <a:lnTo>
                  <a:pt x="405844" y="427911"/>
                </a:lnTo>
                <a:cubicBezTo>
                  <a:pt x="408781" y="432356"/>
                  <a:pt x="413782" y="434975"/>
                  <a:pt x="419021" y="434975"/>
                </a:cubicBezTo>
                <a:cubicBezTo>
                  <a:pt x="424259" y="434975"/>
                  <a:pt x="429260" y="432356"/>
                  <a:pt x="432197" y="427911"/>
                </a:cubicBezTo>
                <a:lnTo>
                  <a:pt x="436245" y="421799"/>
                </a:lnTo>
                <a:cubicBezTo>
                  <a:pt x="451882" y="398304"/>
                  <a:pt x="460216" y="370761"/>
                  <a:pt x="460216" y="342582"/>
                </a:cubicBezTo>
                <a:lnTo>
                  <a:pt x="460216" y="317500"/>
                </a:lnTo>
                <a:cubicBezTo>
                  <a:pt x="460216" y="308769"/>
                  <a:pt x="453073" y="301625"/>
                  <a:pt x="444341" y="301625"/>
                </a:cubicBezTo>
                <a:cubicBezTo>
                  <a:pt x="435610" y="301625"/>
                  <a:pt x="428466" y="308769"/>
                  <a:pt x="428466" y="317500"/>
                </a:cubicBezTo>
                <a:lnTo>
                  <a:pt x="428466" y="342582"/>
                </a:lnTo>
                <a:cubicBezTo>
                  <a:pt x="428466" y="358140"/>
                  <a:pt x="425212" y="373459"/>
                  <a:pt x="418941" y="387588"/>
                </a:cubicBezTo>
                <a:cubicBezTo>
                  <a:pt x="412671" y="373459"/>
                  <a:pt x="409416" y="358140"/>
                  <a:pt x="409416" y="342582"/>
                </a:cubicBezTo>
                <a:lnTo>
                  <a:pt x="409416" y="317500"/>
                </a:lnTo>
                <a:cubicBezTo>
                  <a:pt x="409416" y="308769"/>
                  <a:pt x="402273" y="301625"/>
                  <a:pt x="393541" y="301625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6667500" y="203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 / CSV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2540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Planilhas estruturadas e atualizadas automaticamente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77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7100" y="2032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406718" y="190500"/>
                </a:moveTo>
                <a:lnTo>
                  <a:pt x="267017" y="190500"/>
                </a:lnTo>
                <a:cubicBezTo>
                  <a:pt x="252968" y="190500"/>
                  <a:pt x="241618" y="179149"/>
                  <a:pt x="241618" y="165100"/>
                </a:cubicBezTo>
                <a:lnTo>
                  <a:pt x="241618" y="25400"/>
                </a:lnTo>
                <a:cubicBezTo>
                  <a:pt x="241618" y="11351"/>
                  <a:pt x="253047" y="-159"/>
                  <a:pt x="266938" y="1667"/>
                </a:cubicBezTo>
                <a:cubicBezTo>
                  <a:pt x="351869" y="12938"/>
                  <a:pt x="419179" y="80248"/>
                  <a:pt x="430451" y="165179"/>
                </a:cubicBezTo>
                <a:cubicBezTo>
                  <a:pt x="432276" y="179070"/>
                  <a:pt x="420767" y="190500"/>
                  <a:pt x="406718" y="190500"/>
                </a:cubicBezTo>
                <a:close/>
                <a:moveTo>
                  <a:pt x="176689" y="29528"/>
                </a:moveTo>
                <a:cubicBezTo>
                  <a:pt x="191056" y="26511"/>
                  <a:pt x="203518" y="38259"/>
                  <a:pt x="203518" y="52943"/>
                </a:cubicBezTo>
                <a:lnTo>
                  <a:pt x="203518" y="209550"/>
                </a:lnTo>
                <a:cubicBezTo>
                  <a:pt x="203518" y="213995"/>
                  <a:pt x="205105" y="218281"/>
                  <a:pt x="207883" y="221694"/>
                </a:cubicBezTo>
                <a:lnTo>
                  <a:pt x="312738" y="348218"/>
                </a:lnTo>
                <a:cubicBezTo>
                  <a:pt x="322024" y="359410"/>
                  <a:pt x="320040" y="376317"/>
                  <a:pt x="307261" y="383223"/>
                </a:cubicBezTo>
                <a:cubicBezTo>
                  <a:pt x="280194" y="397986"/>
                  <a:pt x="249158" y="406400"/>
                  <a:pt x="216218" y="406400"/>
                </a:cubicBezTo>
                <a:cubicBezTo>
                  <a:pt x="111046" y="406400"/>
                  <a:pt x="25718" y="321072"/>
                  <a:pt x="25718" y="215900"/>
                </a:cubicBezTo>
                <a:cubicBezTo>
                  <a:pt x="25718" y="124222"/>
                  <a:pt x="90408" y="47704"/>
                  <a:pt x="176689" y="29527"/>
                </a:cubicBezTo>
                <a:close/>
                <a:moveTo>
                  <a:pt x="379254" y="228600"/>
                </a:moveTo>
                <a:lnTo>
                  <a:pt x="430054" y="228600"/>
                </a:lnTo>
                <a:cubicBezTo>
                  <a:pt x="444738" y="228600"/>
                  <a:pt x="456486" y="241062"/>
                  <a:pt x="453469" y="255429"/>
                </a:cubicBezTo>
                <a:cubicBezTo>
                  <a:pt x="445373" y="293846"/>
                  <a:pt x="425688" y="327978"/>
                  <a:pt x="398224" y="354013"/>
                </a:cubicBezTo>
                <a:cubicBezTo>
                  <a:pt x="388461" y="363299"/>
                  <a:pt x="373142" y="361315"/>
                  <a:pt x="364569" y="350917"/>
                </a:cubicBezTo>
                <a:lnTo>
                  <a:pt x="297577" y="270193"/>
                </a:lnTo>
                <a:cubicBezTo>
                  <a:pt x="283845" y="253603"/>
                  <a:pt x="295672" y="228600"/>
                  <a:pt x="317103" y="228600"/>
                </a:cubicBezTo>
                <a:lnTo>
                  <a:pt x="379174" y="228600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6" name="Text 14"/>
          <p:cNvSpPr/>
          <p:nvPr/>
        </p:nvSpPr>
        <p:spPr>
          <a:xfrm>
            <a:off x="11684000" y="203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Web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12500" y="2540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Streamlit acessivel via browser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31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9500" y="457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457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Modelo de ML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9500" y="5080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Predicao cambial treinada e validada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78500" y="431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1400" y="4572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0"/>
                </a:moveTo>
                <a:cubicBezTo>
                  <a:pt x="163751" y="0"/>
                  <a:pt x="152400" y="11351"/>
                  <a:pt x="152400" y="25400"/>
                </a:cubicBezTo>
                <a:lnTo>
                  <a:pt x="152400" y="27940"/>
                </a:lnTo>
                <a:cubicBezTo>
                  <a:pt x="94456" y="39688"/>
                  <a:pt x="50800" y="90964"/>
                  <a:pt x="50800" y="152400"/>
                </a:cubicBezTo>
                <a:lnTo>
                  <a:pt x="50800" y="169624"/>
                </a:lnTo>
                <a:cubicBezTo>
                  <a:pt x="50800" y="207804"/>
                  <a:pt x="37783" y="244872"/>
                  <a:pt x="13970" y="274717"/>
                </a:cubicBezTo>
                <a:lnTo>
                  <a:pt x="6191" y="284401"/>
                </a:lnTo>
                <a:cubicBezTo>
                  <a:pt x="2143" y="289401"/>
                  <a:pt x="0" y="295592"/>
                  <a:pt x="0" y="302022"/>
                </a:cubicBezTo>
                <a:cubicBezTo>
                  <a:pt x="0" y="317579"/>
                  <a:pt x="12621" y="330200"/>
                  <a:pt x="28178" y="330200"/>
                </a:cubicBezTo>
                <a:lnTo>
                  <a:pt x="327343" y="330200"/>
                </a:lnTo>
                <a:cubicBezTo>
                  <a:pt x="342900" y="330200"/>
                  <a:pt x="355521" y="317579"/>
                  <a:pt x="355521" y="302022"/>
                </a:cubicBezTo>
                <a:cubicBezTo>
                  <a:pt x="355521" y="295592"/>
                  <a:pt x="353378" y="289401"/>
                  <a:pt x="349329" y="284401"/>
                </a:cubicBezTo>
                <a:lnTo>
                  <a:pt x="341551" y="274717"/>
                </a:lnTo>
                <a:cubicBezTo>
                  <a:pt x="317818" y="244872"/>
                  <a:pt x="304800" y="207804"/>
                  <a:pt x="304800" y="169624"/>
                </a:cubicBezTo>
                <a:lnTo>
                  <a:pt x="304800" y="152400"/>
                </a:lnTo>
                <a:cubicBezTo>
                  <a:pt x="304800" y="90964"/>
                  <a:pt x="261144" y="39688"/>
                  <a:pt x="203200" y="27940"/>
                </a:cubicBezTo>
                <a:lnTo>
                  <a:pt x="203200" y="25400"/>
                </a:lnTo>
                <a:cubicBezTo>
                  <a:pt x="203200" y="11351"/>
                  <a:pt x="191849" y="0"/>
                  <a:pt x="177800" y="0"/>
                </a:cubicBezTo>
                <a:close/>
                <a:moveTo>
                  <a:pt x="128588" y="368300"/>
                </a:moveTo>
                <a:cubicBezTo>
                  <a:pt x="134223" y="390208"/>
                  <a:pt x="154146" y="406400"/>
                  <a:pt x="177800" y="406400"/>
                </a:cubicBezTo>
                <a:cubicBezTo>
                  <a:pt x="201454" y="406400"/>
                  <a:pt x="221377" y="390208"/>
                  <a:pt x="227013" y="368300"/>
                </a:cubicBezTo>
                <a:lnTo>
                  <a:pt x="128588" y="36830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6667500" y="457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Alertas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6000" y="5080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Sistema Gmail + Telegram operacional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95000" y="4318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63300" y="4572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95250" y="203200"/>
                </a:moveTo>
                <a:cubicBezTo>
                  <a:pt x="84693" y="203200"/>
                  <a:pt x="76200" y="211693"/>
                  <a:pt x="76200" y="222250"/>
                </a:cubicBezTo>
                <a:cubicBezTo>
                  <a:pt x="76200" y="232807"/>
                  <a:pt x="84693" y="241300"/>
                  <a:pt x="95250" y="241300"/>
                </a:cubicBezTo>
                <a:lnTo>
                  <a:pt x="209550" y="241300"/>
                </a:lnTo>
                <a:cubicBezTo>
                  <a:pt x="220107" y="241300"/>
                  <a:pt x="228600" y="232807"/>
                  <a:pt x="228600" y="222250"/>
                </a:cubicBezTo>
                <a:cubicBezTo>
                  <a:pt x="228600" y="211693"/>
                  <a:pt x="220107" y="203200"/>
                  <a:pt x="209550" y="203200"/>
                </a:cubicBezTo>
                <a:lnTo>
                  <a:pt x="95250" y="203200"/>
                </a:lnTo>
                <a:close/>
                <a:moveTo>
                  <a:pt x="95250" y="279400"/>
                </a:moveTo>
                <a:cubicBezTo>
                  <a:pt x="84693" y="279400"/>
                  <a:pt x="76200" y="287893"/>
                  <a:pt x="76200" y="298450"/>
                </a:cubicBezTo>
                <a:cubicBezTo>
                  <a:pt x="76200" y="309007"/>
                  <a:pt x="84693" y="317500"/>
                  <a:pt x="95250" y="317500"/>
                </a:cubicBezTo>
                <a:lnTo>
                  <a:pt x="209550" y="317500"/>
                </a:lnTo>
                <a:cubicBezTo>
                  <a:pt x="220107" y="317500"/>
                  <a:pt x="228600" y="309007"/>
                  <a:pt x="228600" y="298450"/>
                </a:cubicBezTo>
                <a:cubicBezTo>
                  <a:pt x="228600" y="287893"/>
                  <a:pt x="220107" y="279400"/>
                  <a:pt x="209550" y="279400"/>
                </a:cubicBezTo>
                <a:lnTo>
                  <a:pt x="95250" y="279400"/>
                </a:lnTo>
                <a:close/>
              </a:path>
            </a:pathLst>
          </a:custGeom>
          <a:solidFill>
            <a:srgbClr val="D4AF37"/>
          </a:solidFill>
          <a:ln/>
        </p:spPr>
      </p:sp>
      <p:sp>
        <p:nvSpPr>
          <p:cNvPr id="28" name="Text 26"/>
          <p:cNvSpPr/>
          <p:nvPr/>
        </p:nvSpPr>
        <p:spPr>
          <a:xfrm>
            <a:off x="11684000" y="4572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Documentacao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12500" y="5080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Relatorio executivo e proposta comercial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858000"/>
            <a:ext cx="14732000" cy="12065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/>
        </p:spPr>
      </p:sp>
      <p:sp>
        <p:nvSpPr>
          <p:cNvPr id="31" name="Text 29"/>
          <p:cNvSpPr/>
          <p:nvPr/>
        </p:nvSpPr>
        <p:spPr>
          <a:xfrm>
            <a:off x="1270000" y="69850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Automacao da coleta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26000" y="69850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Moedas monitoradas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82000" y="69850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Canais de alerta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938000" y="69850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D4AF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Semanas de projeto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d3bb2g446kv4e/mnt/agents/output/fx_import_ai_hub/images/cover_bg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0F1A">
                  <a:alpha val="0"/>
                </a:srgbClr>
              </a:gs>
              <a:gs pos="30000">
                <a:srgbClr val="0F0F1A">
                  <a:alpha val="60000"/>
                </a:srgbClr>
              </a:gs>
              <a:gs pos="100000">
                <a:srgbClr val="0F0F1A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1115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spc="300" kern="0" dirty="0">
                <a:solidFill>
                  <a:srgbClr val="E8E8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OBRIGADO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83000" y="4127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A0A0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FX Import AI Hub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83000" y="4826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80809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Mais agilidade, precisao e inteligencia na gestao de dados cambiais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5842000"/>
            <a:ext cx="2540000" cy="254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6096000"/>
            <a:ext cx="762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6060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Automacao RPA | Machine Learning | Alertas Inteligentes em Tempo Real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53000" y="6985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50506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Projeto de Sistemas Avancados | Abril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FX Import AI Hub - Apresentacao do Projeto</dc:title>
  <dc:subject>FX Import AI Hub - Apresentacao do Projeto</dc:subject>
  <dc:creator>Kimi</dc:creator>
  <cp:lastModifiedBy>Kimi</cp:lastModifiedBy>
  <cp:revision>1</cp:revision>
  <dcterms:created xsi:type="dcterms:W3CDTF">2026-04-28T20:37:06Z</dcterms:created>
  <dcterms:modified xsi:type="dcterms:W3CDTF">2026-04-28T20:37:06Z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{"Label":"FX Import AI Hub - Apresentacao do Projeto","ContentProducer":"001191110108MACG2KBH8F10000","ProduceID":"19dd5ba4-1e52-8ada-8000-0000549f7fa1","ReservedCode1":"","ContentPropagator":"001191110108MACG2KBH8F20000","PropagateID":"19dd5ba4-1e52-8ada-8000-0000549f7fa1","ReservedCode2":""}</vt:lpwstr>
  </property>
</Properties>
</file>